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10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048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BIENVENIDA Y APERTURA DE LA CLASE</a:t>
            </a:r>
          </a:p>
          <a:p>
            <a:r>
              <a:t>- Saludar a los estudiantes y presentar el tema de la Clase 7 [1].</a:t>
            </a:r>
          </a:p>
          <a:p>
            <a:r>
              <a:t>- Explicar el objetivo principal: Aprender a preparar, presentar y controlar una presentación profesional utilizando herramientas avanzadas de exposición y técnicas de diseño [1].</a:t>
            </a:r>
          </a:p>
          <a:p>
            <a:r>
              <a:t>- Resaltar que esta clase no se centra en cómo insertar objetos (eso ya lo dominan), sino en cómo usarlos estratégicamente y controlar la escena como un orador profesional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PLANIFICACIÓN DEL TIEMEMPO (2 HORAS)</a:t>
            </a:r>
          </a:p>
          <a:p>
            <a:r>
              <a:t>- Explicar el mapa de ruta de la clase para que los alumnos entiendan la estructura [2].</a:t>
            </a:r>
          </a:p>
          <a:p>
            <a:r>
              <a:t>- Destacar que mantendremos un ritmo ágil para asegurar que la teoría (unos 75-80 min) dé espacio a la práctica, ensayos y ejercicios interactivos (unos 40-45 min) [2].</a:t>
            </a:r>
          </a:p>
          <a:p>
            <a:r>
              <a:t>- Esta clase tiene un carácter sumamente aplicado [1].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ACTIVIDAD DE REPASO (10 MINUTOS)</a:t>
            </a:r>
          </a:p>
          <a:p>
            <a:r>
              <a:t>- Realizar preguntas rápidas al grupo basadas en estas 4 tarjetas para evaluar su nivel actual [2].</a:t>
            </a:r>
          </a:p>
          <a:p>
            <a:r>
              <a:t>- Pedir a los alumnos que levanten la mano y respondan:</a:t>
            </a:r>
          </a:p>
          <a:p>
            <a:r>
              <a:t>  1. ¿Qué diferencia hay entre tema y plantilla? [2]</a:t>
            </a:r>
          </a:p>
          <a:p>
            <a:r>
              <a:t>  2. ¿Para qué sirve y qué podemos modificar desde el patrón de diapositivas? [2]</a:t>
            </a:r>
          </a:p>
          <a:p>
            <a:r>
              <a:t>  3. ¿Cuándo conviene usar botones de acción en lugar de hipervínculos ordinarios? [2, 3]</a:t>
            </a:r>
          </a:p>
          <a:p>
            <a:r>
              <a:t>- Consolidar las respuestas rápidamente para asegurar que todos están listos para avanzar.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PREGUNTA INTRODUCTORIA DE REFLEXIÓN</a:t>
            </a:r>
          </a:p>
          <a:p>
            <a:r>
              <a:t>- Lanzar la pregunta directamente a los estudiantes [3].</a:t>
            </a:r>
          </a:p>
          <a:p>
            <a:r>
              <a:t>- Escuchar 2 o 3 comentarios de los alumnos [3].</a:t>
            </a:r>
          </a:p>
          <a:p>
            <a:r>
              <a:t>- Introducir la idea clave: el diseño no debe competir con el mensaje [3]. Una diapositiva con animaciones increíbles y 100 colores puede ser visualmente impresionante, pero si distrae, aburre o confunde al público, es una mala presentación [3].</a:t>
            </a:r>
          </a:p>
          <a:p>
            <a:r>
              <a:t>- Usar esto para dar paso al concepto de los Tres Pilares [3].</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LOS TRES PILARES DE UNA PRESENTACIÓN EXITOSA</a:t>
            </a:r>
          </a:p>
          <a:p>
            <a:r>
              <a:t>- Detallar los tres componentes fundamentales de una presentación profesional: Diseño, Contenido y Exposición [3, 4].</a:t>
            </a:r>
          </a:p>
          <a:p>
            <a:r>
              <a:t>- Explicar que un orador que carece de un buen diseño se ve informal; el que carece de contenido se ve vacío; y el que no expone bien aburre al público [3, 4].</a:t>
            </a:r>
          </a:p>
          <a:p>
            <a:r>
              <a:t>- Destacar que en esta clase aprenderemos herramientas técnicas para perfeccionar el pilar del Diseño (reduciendo texto) y el de la Exposición (controlando el hardware y software) [4, 5, 6].</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MARCO CRAP DE DISEÑO</a:t>
            </a:r>
          </a:p>
          <a:p>
            <a:r>
              <a:t>- Introducir el acrónimo CRAP (popularizado por Robin Williams en 'The Non-Designer's Design Book') [4, 5].</a:t>
            </a:r>
          </a:p>
          <a:p>
            <a:r>
              <a:t>- Explicar que estas cuatro reglas básicas transforman instantáneamente cualquier diapositiva amateur en una presentación con aspecto profesional y limpio [4, 5].</a:t>
            </a:r>
          </a:p>
          <a:p>
            <a:r>
              <a:t>- Desglosar brevemente qué significa cada letra: Contraste, Repetición, Alineación y Proximidad [4, 5].</a:t>
            </a:r>
          </a:p>
          <a:p>
            <a:r>
              <a:t>- Explicar que profundizaremos en estas reglas en las siguientes dos diapositivas [4].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PROFUNDIZACIÓN EN CONTRASTE Y REPETICIÓN</a:t>
            </a:r>
          </a:p>
          <a:p>
            <a:r>
              <a:t>- Explicar con ejemplos prácticos:</a:t>
            </a:r>
          </a:p>
          <a:p>
            <a:r>
              <a:t>  * Contraste: Mostrar cómo un texto blanco sobre fondo oscuro destaca perfectamente, mientras que fondos complejos con texturas arruinan la legibilidad [4].</a:t>
            </a:r>
          </a:p>
          <a:p>
            <a:r>
              <a:t>  * Repetición: Señalar que esta presentación de clase usa los mismos colores y tipos de títulos en cada diapositiva. Esto transmite cohesión y profesionalismo [3, 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PROFUNDIZACIÓN EN ALINEACIÓN Y PROXIMIDAD</a:t>
            </a:r>
          </a:p>
          <a:p>
            <a:r>
              <a:t>- Explicar con ejemplos prácticos:</a:t>
            </a:r>
          </a:p>
          <a:p>
            <a:r>
              <a:t>  * Alineación: Explicar cómo dos cajas de texto desalineadas por pocos píxeles dan una impresión inmediata de dejadez. Recomendar el uso de la herramienta de 'Alinear' de PowerPoint [4].</a:t>
            </a:r>
          </a:p>
          <a:p>
            <a:r>
              <a:t>  * Proximidad: Destacar que si colocas un título lejos de su texto explicativo, la mente de la audiencia luchará por conectarlos. Al agruparlos físicamente, se entiende la relación [4].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REGLA DE ORO DE LA COGNICIÓN</a:t>
            </a:r>
          </a:p>
          <a:p>
            <a:r>
              <a:t>- Enfatizar una regla neurológica: El cerebro no puede leer y escuchar con atención al mismo tiempo [5].</a:t>
            </a:r>
          </a:p>
          <a:p>
            <a:r>
              <a:t>- Si llenamos la pantalla de texto, el público intentará leerlo, dejará de escucharnos y se agotará cognitivamente [5].</a:t>
            </a:r>
          </a:p>
          <a:p>
            <a:r>
              <a:t>- La diapositiva debe ser un soporte que ilustre y fije la idea en segundos [5]. El presentador es quien aporta el valor, los detalles y los ejemplos [5].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ACTIVIDAD DE SÍNTESIS EN CLASE (10 MINUTOS)</a:t>
            </a:r>
          </a:p>
          <a:p>
            <a:r>
              <a:t>- Guiar a los estudiantes a observar la diferencia drástica entre los dos bloques de texto [5].</a:t>
            </a:r>
          </a:p>
          <a:p>
            <a:r>
              <a:t>- Preguntar: ¿Cuál se lee más rápido? ¿Cuál recuerda el cerebro más fácilmente?</a:t>
            </a:r>
          </a:p>
          <a:p>
            <a:r>
              <a:t>- Pedirles que abran inmediatamente su proyecto 'Mi empresa o negocio ideal' [11].</a:t>
            </a:r>
          </a:p>
          <a:p>
            <a:r>
              <a:t>- Darles 5-6 minutos para tomar una diapositiva saturada y reducirla a 3-5 ideas principales [5, 11].</a:t>
            </a:r>
          </a:p>
          <a:p>
            <a:r>
              <a:t>- Monitorear la sala/laboratorio y dar retroalimentación sobre la síntesis de texto.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INTRODUCCIÓN A LAS NOTAS DEL PRESENTADOR</a:t>
            </a:r>
          </a:p>
          <a:p>
            <a:r>
              <a:t>- Explicar el conceptpto de Notas del Presentador [5, 6].</a:t>
            </a:r>
          </a:p>
          <a:p>
            <a:r>
              <a:t>- Enfatizar: las notas resuelven el miedo de 'quedarse en blanco' [6]. En lugar de poner toda tu ayuda de memoria en la diapositiva en forma de texto, la ocultas en el área de notas [5, 6].</a:t>
            </a:r>
          </a:p>
          <a:p>
            <a:r>
              <a:t>- El público ve una diapositiva limpia y profesional con una hermosa imagen y pocas palabras [3, 5], mientras tú lees tus notas privadas en tu monitor privado [6, 7].</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GUÍA PASO A PASO Y ACTIVIDAD 1</a:t>
            </a:r>
          </a:p>
          <a:p>
            <a:r>
              <a:t>- Mostrar en la pantalla del proyector cómo acceder a las notas en PowerPoint [6].</a:t>
            </a:r>
          </a:p>
          <a:p>
            <a:r>
              <a:t>- Guiar a los alumnos en el Ejercicio 1:</a:t>
            </a:r>
          </a:p>
          <a:p>
            <a:r>
              <a:t>  1. Seleccionar una diapositiva de su proyecto de negocio [6, 11].</a:t>
            </a:r>
          </a:p>
          <a:p>
            <a:r>
              <a:t>  2. Escribir sus notas estructuradas en PowerPoint: qué explicar, dato adicional, y pregunta [6].</a:t>
            </a:r>
          </a:p>
          <a:p>
            <a:r>
              <a:t>- Dar 5-7 minutos para que completen la redacción y verificar que usen la ruta correcta [2, 6].</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ESCENARIO TÉCNICO DE EXPOSICIÓN</a:t>
            </a:r>
          </a:p>
          <a:p>
            <a:r>
              <a:t>- Explicar el funcionamiento técnico de la Vista del Presentador [6, 7].</a:t>
            </a:r>
          </a:p>
          <a:p>
            <a:r>
              <a:t>- Como el aula/laboratorio trabaja con dos monitores (o proyector + laptop), este escenario es de vital importancia práctica para los alumnos [6].</a:t>
            </a:r>
          </a:p>
          <a:p>
            <a:r>
              <a:t>- Enfatizar que se debe configurar el sistema operativo en modo 'Extender pantallas' (no duplicar) para que PowerPoint active la Vista del Presentador automáticamente en la pantalla de la laptop [7].</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ELEMENTOS DE CONTROL DE LA VISTA DEL PRESENTADOR</a:t>
            </a:r>
          </a:p>
          <a:p>
            <a:r>
              <a:t>- Detallar cada uno de los elementos del panel de control de PowerPoint [6, 7].</a:t>
            </a:r>
          </a:p>
          <a:p>
            <a:r>
              <a:t>- Resaltar el valor estratégico de la 'Siguiente diapositiva' [7]: Un buen orador no hace clic y luego lee el título de la diapositiva. Un buen orador mira qué viene, dice una frase conector ('Y esto nos lleva a analizar nuestro portafolio de productos...') y luego hace clic [7, 10].</a:t>
            </a:r>
          </a:p>
          <a:p>
            <a:r>
              <a:t>- Esto genera una fluidez discursiva impresionante [10].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HERRAMIENTAS DE ANOTACIÓN Y ENFOQUE</a:t>
            </a:r>
          </a:p>
          <a:p>
            <a:r>
              <a:t>- Explicar que estas herramientas de anotación se activan en la esquina inferior izquierda de la presentación o directamente desde la Vista del Presentador [7].</a:t>
            </a:r>
          </a:p>
          <a:p>
            <a:r>
              <a:t>- Recomendar su uso moderado. El uso excesivo del lápiz puede ensuciar la diapositiva y distraer [11].</a:t>
            </a:r>
          </a:p>
          <a:p>
            <a:r>
              <a:t>- El Zoom de pantalla es de las herramientas más útiles cuando se exponen datos de ventas o flujogramas complejos de procesos [7].</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VALOR DE LA PANTALLA NEGRA EN EXPOSICIÓN</a:t>
            </a:r>
          </a:p>
          <a:p>
            <a:r>
              <a:t>- Destacar la técnica de la Pantalla Negra (B) [7, 8]: Es un truco muy profesional. Si estás a mitad de tu discurso y el público se queda embobado viendo un gráfico antiguo en la diapositiva, presionas 'B' [7, 8]. Al oscurecerse la pantalla, el público no tiene más opción que mirarte a los ojos e involucrarse con tu discurso [7, 10].</a:t>
            </a:r>
          </a:p>
          <a:p>
            <a:r>
              <a:t>- Al presionar cualquier tecla o mover el mouse, PowerPoint regresa exactamente donde estaba [8].</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ACTIVIDAD DE ATAJOS Y CONTROL (5 MINUTOS)</a:t>
            </a:r>
          </a:p>
          <a:p>
            <a:r>
              <a:t>- Guiar a los alumnos en este Ejercicio 2 de atajos clave [8].</a:t>
            </a:r>
          </a:p>
          <a:p>
            <a:r>
              <a:t>- Pedir a todos que ejecuten su PowerPoint y realicen las 7 acciones de forma secuencial [8].</a:t>
            </a:r>
          </a:p>
          <a:p>
            <a:r>
              <a:t>- Es importante que memoricen los atajos F5, Shift+F5, B y W [8]. Les dará una enorme solvencia técnica cuando expongan ante un jurado o clientes, ya que no dependerán de buscar botones con el mouse [8].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CONFIGURAR PRESENTACIÓN DE DIAPOSITIVAS</a:t>
            </a:r>
          </a:p>
          <a:p>
            <a:r>
              <a:t>- Explicar el menú de Configuración de Presentación [8, 9].</a:t>
            </a:r>
          </a:p>
          <a:p>
            <a:r>
              <a:t>- Destacar dos casos de uso clave:</a:t>
            </a:r>
          </a:p>
          <a:p>
            <a:r>
              <a:t>  1. 'Examinada de forma individual (ventana)' [9]: Es ideal cuando solo tienes un monitor y necesitas ensayar la presentación de Zoom/Teams mientras lee tus notas o guion en un Word al lado.</a:t>
            </a:r>
          </a:p>
          <a:p>
            <a:r>
              <a:t>  2. 'Repetir continuamente' (bucle) [9]: Indispensable cuando dejas una computadora reproduciendo un portafolio de productos en el stand de una feria o en la pantalla de bienvenida de un negocio.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TÉCNICA DE CONTROL DE TIEMPO</a:t>
            </a:r>
          </a:p>
          <a:p>
            <a:r>
              <a:t>- Explicar el concepto de Ensayar Intervalos [9].</a:t>
            </a:r>
          </a:p>
          <a:p>
            <a:r>
              <a:t>- Señalar que la pérdida de control del tiempo es uno de los errores más graves y comunes en exposiciones reales (quedarse a mitad de la presentación cuando el tiempo ya terminó) [11].</a:t>
            </a:r>
          </a:p>
          <a:p>
            <a:r>
              <a:t>- Guiar a los alumnos en el ejercicio de los 30 segundos por diapositiva [9-10]. Es una excelente técnica de calibración del ritmo verbal [9].</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GRABACIÓN DE DIAPOSITIVAS</a:t>
            </a:r>
          </a:p>
          <a:p>
            <a:r>
              <a:t>- Introducir brevemente la herramienta de Grabar [10].</a:t>
            </a:r>
          </a:p>
          <a:p>
            <a:r>
              <a:t>- Explicar que la grabación genera un archivo interactivo donde el audio y el video están sincronizados con cada diapositiva [10].</a:t>
            </a:r>
          </a:p>
          <a:p>
            <a:r>
              <a:t>- Mencionar que esto es ideal para crear contenido educativo o para enviar propuestas comerciales de forma que el cliente pueda 'escuchar el discurso' a su propio ritmo sin necesidad de que estemos presentes físicamente [10].</a:t>
            </a:r>
          </a:p>
          <a:p>
            <a:r>
              <a:t>- Conectar con el hecho de que esto se puede exportar luego como video estándar .mp4 [13].</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SÍNTESIS DE EXPOSICIÓN ORAL</a:t>
            </a:r>
          </a:p>
          <a:p>
            <a:r>
              <a:t>- Analizar estas dos listas con los estudiantes [10, 11].</a:t>
            </a:r>
          </a:p>
          <a:p>
            <a:r>
              <a:t>- Pedirles que autoevalúen su comportamiento habitual al exponer: ¿Tienden a leer? ¿Se ponen nerviosos y hablan muy rápido? ¿Saturan de animaciones las diapositivas? [11]</a:t>
            </a:r>
          </a:p>
          <a:p>
            <a:r>
              <a:t>- Concluir que el orador profesional es el que se ha preparado y ha ensayado su tiempo y sus herramientas con anticipación [10, 11].</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TALLER PRÁCTICO FINAL EN CLASE (15 MINUTOS)</a:t>
            </a:r>
          </a:p>
          <a:p>
            <a:r>
              <a:t>- Este es el ejercicio consolidado de la clase de 2 horas [2, 11].</a:t>
            </a:r>
          </a:p>
          <a:p>
            <a:r>
              <a:t>- Indicar a los alumnos que tomen el control de su proyecto 'Mi empresa o negocio ideal' [11].</a:t>
            </a:r>
          </a:p>
          <a:p>
            <a:r>
              <a:t>- Deben estructurar exactamente estas 5 diapositivas [12].</a:t>
            </a:r>
          </a:p>
          <a:p>
            <a:r>
              <a:t>- Darles tiempo para ajustar el diseño (CRAP) [12], resumir texto [12], añadir sus notas privadas en cada diapositiva [12], configurar intervalos de ensayo [12], y practicar con sus compañeros usando el puntero láser y atajos rápidos [11].</a:t>
            </a:r>
          </a:p>
          <a:p>
            <a:r>
              <a:t>- El objetivo es entrenar para una exposición de 3 minutos [12].</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DE LA CLASE Y TAREA FINAL</a:t>
            </a:r>
          </a:p>
          <a:p>
            <a:r>
              <a:t>- Recordar la tarea obligatoria para la siguiente clase: la entrega de las 10 diapositivas completas del proyecto de negocio [12].</a:t>
            </a:r>
          </a:p>
          <a:p>
            <a:r>
              <a:t>- Recalcar los requisitos de evaluación: diseño limpio (CRAP), notas completas para el orador y un ensayo de tiempos estricto para lograr una exposición de 5 minutos exactos [12].</a:t>
            </a:r>
          </a:p>
          <a:p>
            <a:r>
              <a:t>- Agradecer la participación activa de todos los estudiantes.</a:t>
            </a:r>
          </a:p>
          <a:p>
            <a:r>
              <a:t>- Adelantar que en la Clase 8 aprenderemos qué hacer con la presentación una vez terminada, como exportarla a PDF o video, y protegerla contra modificaciones no autorizadas [13].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02C"/>
        </a:solidFill>
        <a:effectLst/>
      </p:bgPr>
    </p:bg>
    <p:spTree>
      <p:nvGrpSpPr>
        <p:cNvPr id="1" name=""/>
        <p:cNvGrpSpPr/>
        <p:nvPr/>
      </p:nvGrpSpPr>
      <p:grpSpPr>
        <a:xfrm>
          <a:off x="0" y="0"/>
          <a:ext cx="0" cy="0"/>
          <a:chOff x="0" y="0"/>
          <a:chExt cx="0" cy="0"/>
        </a:xfrm>
      </p:grpSpPr>
      <p:sp>
        <p:nvSpPr>
          <p:cNvPr id="2" name="TextBox 1"/>
          <p:cNvSpPr txBox="1"/>
          <p:nvPr/>
        </p:nvSpPr>
        <p:spPr>
          <a:xfrm>
            <a:off x="914400" y="1645920"/>
            <a:ext cx="10332720" cy="1754326"/>
          </a:xfrm>
          <a:prstGeom prst="rect">
            <a:avLst/>
          </a:prstGeom>
          <a:noFill/>
        </p:spPr>
        <p:txBody>
          <a:bodyPr wrap="square">
            <a:spAutoFit/>
          </a:bodyPr>
          <a:lstStyle/>
          <a:p>
            <a:pPr algn="l"/>
            <a:r>
              <a:rPr sz="4000" b="1" dirty="0" err="1">
                <a:solidFill>
                  <a:srgbClr val="FFFFFF"/>
                </a:solidFill>
                <a:latin typeface="Georgia"/>
              </a:rPr>
              <a:t>Clase</a:t>
            </a:r>
            <a:r>
              <a:rPr sz="4000" b="1" dirty="0">
                <a:solidFill>
                  <a:srgbClr val="FFFFFF"/>
                </a:solidFill>
                <a:latin typeface="Georgia"/>
              </a:rPr>
              <a:t> </a:t>
            </a:r>
            <a:r>
              <a:rPr lang="es-ES" sz="4000" b="1" dirty="0" smtClean="0">
                <a:solidFill>
                  <a:srgbClr val="FFFFFF"/>
                </a:solidFill>
                <a:latin typeface="Georgia"/>
              </a:rPr>
              <a:t>8</a:t>
            </a:r>
            <a:r>
              <a:rPr sz="4000" b="1" dirty="0" smtClean="0">
                <a:solidFill>
                  <a:srgbClr val="FFFFFF"/>
                </a:solidFill>
                <a:latin typeface="Georgia"/>
              </a:rPr>
              <a:t>: </a:t>
            </a:r>
            <a:r>
              <a:rPr sz="4000" b="1" dirty="0" err="1">
                <a:solidFill>
                  <a:srgbClr val="FFFFFF"/>
                </a:solidFill>
                <a:latin typeface="Georgia"/>
              </a:rPr>
              <a:t>Presentaciones</a:t>
            </a:r>
            <a:r>
              <a:rPr sz="4000" b="1" dirty="0">
                <a:solidFill>
                  <a:srgbClr val="FFFFFF"/>
                </a:solidFill>
                <a:latin typeface="Georgia"/>
              </a:rPr>
              <a:t> </a:t>
            </a:r>
            <a:r>
              <a:rPr sz="4000" b="1" dirty="0" err="1">
                <a:solidFill>
                  <a:srgbClr val="FFFFFF"/>
                </a:solidFill>
                <a:latin typeface="Georgia"/>
              </a:rPr>
              <a:t>profesionales</a:t>
            </a:r>
            <a:r>
              <a:rPr sz="4000" b="1" dirty="0">
                <a:solidFill>
                  <a:srgbClr val="FFFFFF"/>
                </a:solidFill>
                <a:latin typeface="Georgia"/>
              </a:rPr>
              <a:t> y </a:t>
            </a:r>
            <a:r>
              <a:rPr sz="4000" b="1" dirty="0" err="1">
                <a:solidFill>
                  <a:srgbClr val="FFFFFF"/>
                </a:solidFill>
                <a:latin typeface="Georgia"/>
              </a:rPr>
              <a:t>herramientas</a:t>
            </a:r>
            <a:r>
              <a:rPr sz="4000" b="1" dirty="0">
                <a:solidFill>
                  <a:srgbClr val="FFFFFF"/>
                </a:solidFill>
                <a:latin typeface="Georgia"/>
              </a:rPr>
              <a:t> para </a:t>
            </a:r>
            <a:r>
              <a:rPr sz="4000" b="1" dirty="0" err="1">
                <a:solidFill>
                  <a:srgbClr val="FFFFFF"/>
                </a:solidFill>
                <a:latin typeface="Georgia"/>
              </a:rPr>
              <a:t>exponer</a:t>
            </a:r>
            <a:endParaRPr sz="4000" b="1" dirty="0">
              <a:solidFill>
                <a:srgbClr val="FFFFFF"/>
              </a:solidFill>
              <a:latin typeface="Georgia"/>
            </a:endParaRPr>
          </a:p>
          <a:p>
            <a:pPr algn="l">
              <a:spcBef>
                <a:spcPts val="1200"/>
              </a:spcBef>
            </a:pPr>
            <a:r>
              <a:rPr sz="1800" dirty="0" err="1">
                <a:solidFill>
                  <a:srgbClr val="DC5F24"/>
                </a:solidFill>
                <a:latin typeface="Arial"/>
              </a:rPr>
              <a:t>Estrategias</a:t>
            </a:r>
            <a:r>
              <a:rPr sz="1800" dirty="0">
                <a:solidFill>
                  <a:srgbClr val="DC5F24"/>
                </a:solidFill>
                <a:latin typeface="Arial"/>
              </a:rPr>
              <a:t> de </a:t>
            </a:r>
            <a:r>
              <a:rPr sz="1800" dirty="0" err="1">
                <a:solidFill>
                  <a:srgbClr val="DC5F24"/>
                </a:solidFill>
                <a:latin typeface="Arial"/>
              </a:rPr>
              <a:t>diseño</a:t>
            </a:r>
            <a:r>
              <a:rPr sz="1800" dirty="0">
                <a:solidFill>
                  <a:srgbClr val="DC5F24"/>
                </a:solidFill>
                <a:latin typeface="Arial"/>
              </a:rPr>
              <a:t> </a:t>
            </a:r>
            <a:r>
              <a:rPr sz="1800" dirty="0" err="1">
                <a:solidFill>
                  <a:srgbClr val="DC5F24"/>
                </a:solidFill>
                <a:latin typeface="Arial"/>
              </a:rPr>
              <a:t>intermedio</a:t>
            </a:r>
            <a:r>
              <a:rPr sz="1800" dirty="0">
                <a:solidFill>
                  <a:srgbClr val="DC5F24"/>
                </a:solidFill>
                <a:latin typeface="Arial"/>
              </a:rPr>
              <a:t>, control </a:t>
            </a:r>
            <a:r>
              <a:rPr sz="1800" dirty="0" err="1">
                <a:solidFill>
                  <a:srgbClr val="DC5F24"/>
                </a:solidFill>
                <a:latin typeface="Arial"/>
              </a:rPr>
              <a:t>técnico</a:t>
            </a:r>
            <a:r>
              <a:rPr sz="1800" dirty="0">
                <a:solidFill>
                  <a:srgbClr val="DC5F24"/>
                </a:solidFill>
                <a:latin typeface="Arial"/>
              </a:rPr>
              <a:t> de </a:t>
            </a:r>
            <a:r>
              <a:rPr sz="1800" dirty="0" err="1">
                <a:solidFill>
                  <a:srgbClr val="DC5F24"/>
                </a:solidFill>
                <a:latin typeface="Arial"/>
              </a:rPr>
              <a:t>escena</a:t>
            </a:r>
            <a:r>
              <a:rPr sz="1800" dirty="0">
                <a:solidFill>
                  <a:srgbClr val="DC5F24"/>
                </a:solidFill>
                <a:latin typeface="Arial"/>
              </a:rPr>
              <a:t> y </a:t>
            </a:r>
            <a:r>
              <a:rPr sz="1800" dirty="0" err="1">
                <a:solidFill>
                  <a:srgbClr val="DC5F24"/>
                </a:solidFill>
                <a:latin typeface="Arial"/>
              </a:rPr>
              <a:t>exposición</a:t>
            </a:r>
            <a:r>
              <a:rPr sz="1800" dirty="0">
                <a:solidFill>
                  <a:srgbClr val="DC5F24"/>
                </a:solidFill>
                <a:latin typeface="Arial"/>
              </a:rPr>
              <a:t> de alto </a:t>
            </a:r>
            <a:r>
              <a:rPr sz="1800" dirty="0" err="1">
                <a:solidFill>
                  <a:srgbClr val="DC5F24"/>
                </a:solidFill>
                <a:latin typeface="Arial"/>
              </a:rPr>
              <a:t>nivel</a:t>
            </a:r>
            <a:endParaRPr sz="1800" dirty="0">
              <a:solidFill>
                <a:srgbClr val="DC5F24"/>
              </a:solidFill>
              <a:latin typeface="Arial"/>
            </a:endParaRPr>
          </a:p>
        </p:txBody>
      </p:sp>
      <p:sp>
        <p:nvSpPr>
          <p:cNvPr id="3" name="Rectangle 2"/>
          <p:cNvSpPr/>
          <p:nvPr/>
        </p:nvSpPr>
        <p:spPr>
          <a:xfrm>
            <a:off x="914400" y="3931920"/>
            <a:ext cx="3657600" cy="508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4754880"/>
            <a:ext cx="10332720" cy="1097280"/>
          </a:xfrm>
          <a:prstGeom prst="rect">
            <a:avLst/>
          </a:prstGeom>
          <a:noFill/>
        </p:spPr>
        <p:txBody>
          <a:bodyPr wrap="square">
            <a:spAutoFit/>
          </a:bodyPr>
          <a:lstStyle/>
          <a:p>
            <a:r>
              <a:rPr sz="1300">
                <a:solidFill>
                  <a:srgbClr val="718096"/>
                </a:solidFill>
                <a:latin typeface="Arial"/>
              </a:rPr>
              <a:t>Duración: 2 Horas  |  Nivel: Intermedio</a:t>
            </a:r>
            <a:r>
              <a:t/>
            </a:r>
            <a:br/>
            <a:r>
              <a:rPr sz="1300">
                <a:solidFill>
                  <a:srgbClr val="718096"/>
                </a:solidFill>
                <a:latin typeface="Arial"/>
              </a:rPr>
              <a:t>Dirigido a estudiantes con dominio de herramientas de PowerPoint básico y avanzado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Distribución de la Clase (Estructura de 2 Horas)</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487680">
                <a:tc>
                  <a:txBody>
                    <a:bodyPr/>
                    <a:lstStyle/>
                    <a:p>
                      <a:pPr algn="l"/>
                      <a:r>
                        <a:rPr sz="1400" b="1">
                          <a:solidFill>
                            <a:srgbClr val="FFFFFF"/>
                          </a:solidFill>
                          <a:latin typeface="Georgia"/>
                        </a:rPr>
                        <a:t>Tema</a:t>
                      </a:r>
                    </a:p>
                  </a:txBody>
                  <a:tcPr>
                    <a:solidFill>
                      <a:srgbClr val="2B4C7E"/>
                    </a:solidFill>
                  </a:tcPr>
                </a:tc>
                <a:tc>
                  <a:txBody>
                    <a:bodyPr/>
                    <a:lstStyle/>
                    <a:p>
                      <a:pPr algn="l"/>
                      <a:r>
                        <a:rPr sz="1400" b="1">
                          <a:solidFill>
                            <a:srgbClr val="FFFFFF"/>
                          </a:solidFill>
                          <a:latin typeface="Georgia"/>
                        </a:rPr>
                        <a:t>Tiempo</a:t>
                      </a:r>
                    </a:p>
                  </a:txBody>
                  <a:tcPr>
                    <a:solidFill>
                      <a:srgbClr val="2B4C7E"/>
                    </a:solidFill>
                  </a:tcPr>
                </a:tc>
                <a:tc>
                  <a:txBody>
                    <a:bodyPr/>
                    <a:lstStyle/>
                    <a:p>
                      <a:pPr algn="l"/>
                      <a:r>
                        <a:rPr sz="1400" b="1">
                          <a:solidFill>
                            <a:srgbClr val="FFFFFF"/>
                          </a:solidFill>
                          <a:latin typeface="Georgia"/>
                        </a:rPr>
                        <a:t>Enfoque Principal</a:t>
                      </a:r>
                    </a:p>
                  </a:txBody>
                  <a:tcPr>
                    <a:solidFill>
                      <a:srgbClr val="2B4C7E"/>
                    </a:solidFill>
                  </a:tcPr>
                </a:tc>
                <a:extLst>
                  <a:ext uri="{0D108BD9-81ED-4DB2-BD59-A6C34878D82A}">
                    <a16:rowId xmlns:a16="http://schemas.microsoft.com/office/drawing/2014/main" val="10000"/>
                  </a:ext>
                </a:extLst>
              </a:tr>
              <a:tr h="487680">
                <a:tc>
                  <a:txBody>
                    <a:bodyPr/>
                    <a:lstStyle/>
                    <a:p>
                      <a:pPr algn="l"/>
                      <a:r>
                        <a:rPr sz="1100">
                          <a:solidFill>
                            <a:srgbClr val="1F242E"/>
                          </a:solidFill>
                          <a:latin typeface="Arial"/>
                        </a:rPr>
                        <a:t>1. Repaso Interactivo</a:t>
                      </a:r>
                    </a:p>
                  </a:txBody>
                  <a:tcPr>
                    <a:solidFill>
                      <a:srgbClr val="FFFFFF"/>
                    </a:solidFill>
                  </a:tcPr>
                </a:tc>
                <a:tc>
                  <a:txBody>
                    <a:bodyPr/>
                    <a:lstStyle/>
                    <a:p>
                      <a:pPr algn="l"/>
                      <a:r>
                        <a:rPr sz="1100">
                          <a:solidFill>
                            <a:srgbClr val="1F242E"/>
                          </a:solidFill>
                          <a:latin typeface="Arial"/>
                        </a:rPr>
                        <a:t>10 min</a:t>
                      </a:r>
                    </a:p>
                  </a:txBody>
                  <a:tcPr>
                    <a:solidFill>
                      <a:srgbClr val="FFFFFF"/>
                    </a:solidFill>
                  </a:tcPr>
                </a:tc>
                <a:tc>
                  <a:txBody>
                    <a:bodyPr/>
                    <a:lstStyle/>
                    <a:p>
                      <a:pPr algn="l"/>
                      <a:r>
                        <a:rPr sz="1100">
                          <a:solidFill>
                            <a:srgbClr val="1F242E"/>
                          </a:solidFill>
                          <a:latin typeface="Arial"/>
                        </a:rPr>
                        <a:t>Diferencia de conceptos clave y verificación de bases.</a:t>
                      </a:r>
                    </a:p>
                  </a:txBody>
                  <a:tcPr>
                    <a:solidFill>
                      <a:srgbClr val="FFFFFF"/>
                    </a:solidFill>
                  </a:tcPr>
                </a:tc>
                <a:extLst>
                  <a:ext uri="{0D108BD9-81ED-4DB2-BD59-A6C34878D82A}">
                    <a16:rowId xmlns:a16="http://schemas.microsoft.com/office/drawing/2014/main" val="10001"/>
                  </a:ext>
                </a:extLst>
              </a:tr>
              <a:tr h="487680">
                <a:tc>
                  <a:txBody>
                    <a:bodyPr/>
                    <a:lstStyle/>
                    <a:p>
                      <a:pPr algn="l"/>
                      <a:r>
                        <a:rPr sz="1100">
                          <a:solidFill>
                            <a:srgbClr val="1F242E"/>
                          </a:solidFill>
                          <a:latin typeface="Arial"/>
                        </a:rPr>
                        <a:t>2. ¿Qué hace profesional una presentación?</a:t>
                      </a:r>
                    </a:p>
                  </a:txBody>
                  <a:tcPr>
                    <a:solidFill>
                      <a:srgbClr val="EEF0F3"/>
                    </a:solidFill>
                  </a:tcPr>
                </a:tc>
                <a:tc>
                  <a:txBody>
                    <a:bodyPr/>
                    <a:lstStyle/>
                    <a:p>
                      <a:pPr algn="l"/>
                      <a:r>
                        <a:rPr sz="1100">
                          <a:solidFill>
                            <a:srgbClr val="1F242E"/>
                          </a:solidFill>
                          <a:latin typeface="Arial"/>
                        </a:rPr>
                        <a:t>20 min</a:t>
                      </a:r>
                    </a:p>
                  </a:txBody>
                  <a:tcPr>
                    <a:solidFill>
                      <a:srgbClr val="EEF0F3"/>
                    </a:solidFill>
                  </a:tcPr>
                </a:tc>
                <a:tc>
                  <a:txBody>
                    <a:bodyPr/>
                    <a:lstStyle/>
                    <a:p>
                      <a:pPr algn="l"/>
                      <a:r>
                        <a:rPr sz="1100">
                          <a:solidFill>
                            <a:srgbClr val="1F242E"/>
                          </a:solidFill>
                          <a:latin typeface="Arial"/>
                        </a:rPr>
                        <a:t>El equilibrio entre los 3 pilares del orador.</a:t>
                      </a:r>
                    </a:p>
                  </a:txBody>
                  <a:tcPr>
                    <a:solidFill>
                      <a:srgbClr val="EEF0F3"/>
                    </a:solidFill>
                  </a:tcPr>
                </a:tc>
                <a:extLst>
                  <a:ext uri="{0D108BD9-81ED-4DB2-BD59-A6C34878D82A}">
                    <a16:rowId xmlns:a16="http://schemas.microsoft.com/office/drawing/2014/main" val="10002"/>
                  </a:ext>
                </a:extLst>
              </a:tr>
              <a:tr h="487680">
                <a:tc>
                  <a:txBody>
                    <a:bodyPr/>
                    <a:lstStyle/>
                    <a:p>
                      <a:pPr algn="l"/>
                      <a:r>
                        <a:rPr sz="1100">
                          <a:solidFill>
                            <a:srgbClr val="1F242E"/>
                          </a:solidFill>
                          <a:latin typeface="Arial"/>
                        </a:rPr>
                        <a:t>3. Reglas Básicas de Diseño (CRAP)</a:t>
                      </a:r>
                    </a:p>
                  </a:txBody>
                  <a:tcPr>
                    <a:solidFill>
                      <a:srgbClr val="FFFFFF"/>
                    </a:solidFill>
                  </a:tcPr>
                </a:tc>
                <a:tc>
                  <a:txBody>
                    <a:bodyPr/>
                    <a:lstStyle/>
                    <a:p>
                      <a:pPr algn="l"/>
                      <a:r>
                        <a:rPr sz="1100">
                          <a:solidFill>
                            <a:srgbClr val="1F242E"/>
                          </a:solidFill>
                          <a:latin typeface="Arial"/>
                        </a:rPr>
                        <a:t>20 min</a:t>
                      </a:r>
                    </a:p>
                  </a:txBody>
                  <a:tcPr>
                    <a:solidFill>
                      <a:srgbClr val="FFFFFF"/>
                    </a:solidFill>
                  </a:tcPr>
                </a:tc>
                <a:tc>
                  <a:txBody>
                    <a:bodyPr/>
                    <a:lstStyle/>
                    <a:p>
                      <a:pPr algn="l"/>
                      <a:r>
                        <a:rPr sz="1100">
                          <a:solidFill>
                            <a:srgbClr val="1F242E"/>
                          </a:solidFill>
                          <a:latin typeface="Arial"/>
                        </a:rPr>
                        <a:t>Contraste, Repetición, Alineación y Proximidad.</a:t>
                      </a:r>
                    </a:p>
                  </a:txBody>
                  <a:tcPr>
                    <a:solidFill>
                      <a:srgbClr val="FFFFFF"/>
                    </a:solidFill>
                  </a:tcPr>
                </a:tc>
                <a:extLst>
                  <a:ext uri="{0D108BD9-81ED-4DB2-BD59-A6C34878D82A}">
                    <a16:rowId xmlns:a16="http://schemas.microsoft.com/office/drawing/2014/main" val="10003"/>
                  </a:ext>
                </a:extLst>
              </a:tr>
              <a:tr h="487680">
                <a:tc>
                  <a:txBody>
                    <a:bodyPr/>
                    <a:lstStyle/>
                    <a:p>
                      <a:pPr algn="l"/>
                      <a:r>
                        <a:rPr sz="1100">
                          <a:solidFill>
                            <a:srgbClr val="1F242E"/>
                          </a:solidFill>
                          <a:latin typeface="Arial"/>
                        </a:rPr>
                        <a:t>4. Optimización de Texto y Notas</a:t>
                      </a:r>
                    </a:p>
                  </a:txBody>
                  <a:tcPr>
                    <a:solidFill>
                      <a:srgbClr val="EEF0F3"/>
                    </a:solidFill>
                  </a:tcPr>
                </a:tc>
                <a:tc>
                  <a:txBody>
                    <a:bodyPr/>
                    <a:lstStyle/>
                    <a:p>
                      <a:pPr algn="l"/>
                      <a:r>
                        <a:rPr sz="1100">
                          <a:solidFill>
                            <a:srgbClr val="1F242E"/>
                          </a:solidFill>
                          <a:latin typeface="Arial"/>
                        </a:rPr>
                        <a:t>20 min</a:t>
                      </a:r>
                    </a:p>
                  </a:txBody>
                  <a:tcPr>
                    <a:solidFill>
                      <a:srgbClr val="EEF0F3"/>
                    </a:solidFill>
                  </a:tcPr>
                </a:tc>
                <a:tc>
                  <a:txBody>
                    <a:bodyPr/>
                    <a:lstStyle/>
                    <a:p>
                      <a:pPr algn="l"/>
                      <a:r>
                        <a:rPr sz="1100">
                          <a:solidFill>
                            <a:srgbClr val="1F242E"/>
                          </a:solidFill>
                          <a:latin typeface="Arial"/>
                        </a:rPr>
                        <a:t>Menos es más, reducción de texto, Página de Notas.</a:t>
                      </a:r>
                    </a:p>
                  </a:txBody>
                  <a:tcPr>
                    <a:solidFill>
                      <a:srgbClr val="EEF0F3"/>
                    </a:solidFill>
                  </a:tcPr>
                </a:tc>
                <a:extLst>
                  <a:ext uri="{0D108BD9-81ED-4DB2-BD59-A6C34878D82A}">
                    <a16:rowId xmlns:a16="http://schemas.microsoft.com/office/drawing/2014/main" val="10004"/>
                  </a:ext>
                </a:extLst>
              </a:tr>
              <a:tr h="487680">
                <a:tc>
                  <a:txBody>
                    <a:bodyPr/>
                    <a:lstStyle/>
                    <a:p>
                      <a:pPr algn="l"/>
                      <a:r>
                        <a:rPr sz="1100">
                          <a:solidFill>
                            <a:srgbClr val="1F242E"/>
                          </a:solidFill>
                          <a:latin typeface="Arial"/>
                        </a:rPr>
                        <a:t>5. Vista del Presentador y Entorno</a:t>
                      </a:r>
                    </a:p>
                  </a:txBody>
                  <a:tcPr>
                    <a:solidFill>
                      <a:srgbClr val="FFFFFF"/>
                    </a:solidFill>
                  </a:tcPr>
                </a:tc>
                <a:tc>
                  <a:txBody>
                    <a:bodyPr/>
                    <a:lstStyle/>
                    <a:p>
                      <a:pPr algn="l"/>
                      <a:r>
                        <a:rPr sz="1100">
                          <a:solidFill>
                            <a:srgbClr val="1F242E"/>
                          </a:solidFill>
                          <a:latin typeface="Arial"/>
                        </a:rPr>
                        <a:t>15 min</a:t>
                      </a:r>
                    </a:p>
                  </a:txBody>
                  <a:tcPr>
                    <a:solidFill>
                      <a:srgbClr val="FFFFFF"/>
                    </a:solidFill>
                  </a:tcPr>
                </a:tc>
                <a:tc>
                  <a:txBody>
                    <a:bodyPr/>
                    <a:lstStyle/>
                    <a:p>
                      <a:pPr algn="l"/>
                      <a:r>
                        <a:rPr sz="1100">
                          <a:solidFill>
                            <a:srgbClr val="1F242E"/>
                          </a:solidFill>
                          <a:latin typeface="Arial"/>
                        </a:rPr>
                        <a:t>Escenario de doble monitor y panel de control.</a:t>
                      </a:r>
                    </a:p>
                  </a:txBody>
                  <a:tcPr>
                    <a:solidFill>
                      <a:srgbClr val="FFFFFF"/>
                    </a:solidFill>
                  </a:tcPr>
                </a:tc>
                <a:extLst>
                  <a:ext uri="{0D108BD9-81ED-4DB2-BD59-A6C34878D82A}">
                    <a16:rowId xmlns:a16="http://schemas.microsoft.com/office/drawing/2014/main" val="10005"/>
                  </a:ext>
                </a:extLst>
              </a:tr>
              <a:tr h="487680">
                <a:tc>
                  <a:txBody>
                    <a:bodyPr/>
                    <a:lstStyle/>
                    <a:p>
                      <a:pPr algn="l"/>
                      <a:r>
                        <a:rPr sz="1100">
                          <a:solidFill>
                            <a:srgbClr val="1F242E"/>
                          </a:solidFill>
                          <a:latin typeface="Arial"/>
                        </a:rPr>
                        <a:t>6. Herramientas de Exposición y Atajos</a:t>
                      </a:r>
                    </a:p>
                  </a:txBody>
                  <a:tcPr>
                    <a:solidFill>
                      <a:srgbClr val="EEF0F3"/>
                    </a:solidFill>
                  </a:tcPr>
                </a:tc>
                <a:tc>
                  <a:txBody>
                    <a:bodyPr/>
                    <a:lstStyle/>
                    <a:p>
                      <a:pPr algn="l"/>
                      <a:r>
                        <a:rPr sz="1100">
                          <a:solidFill>
                            <a:srgbClr val="1F242E"/>
                          </a:solidFill>
                          <a:latin typeface="Arial"/>
                        </a:rPr>
                        <a:t>15 min</a:t>
                      </a:r>
                    </a:p>
                  </a:txBody>
                  <a:tcPr>
                    <a:solidFill>
                      <a:srgbClr val="EEF0F3"/>
                    </a:solidFill>
                  </a:tcPr>
                </a:tc>
                <a:tc>
                  <a:txBody>
                    <a:bodyPr/>
                    <a:lstStyle/>
                    <a:p>
                      <a:pPr algn="l"/>
                      <a:r>
                        <a:rPr sz="1100">
                          <a:solidFill>
                            <a:srgbClr val="1F242E"/>
                          </a:solidFill>
                          <a:latin typeface="Arial"/>
                        </a:rPr>
                        <a:t>Puntero, anotaciones, pantalla de pausa, atajos clave.</a:t>
                      </a:r>
                    </a:p>
                  </a:txBody>
                  <a:tcPr>
                    <a:solidFill>
                      <a:srgbClr val="EEF0F3"/>
                    </a:solidFill>
                  </a:tcPr>
                </a:tc>
                <a:extLst>
                  <a:ext uri="{0D108BD9-81ED-4DB2-BD59-A6C34878D82A}">
                    <a16:rowId xmlns:a16="http://schemas.microsoft.com/office/drawing/2014/main" val="10006"/>
                  </a:ext>
                </a:extLst>
              </a:tr>
              <a:tr h="487680">
                <a:tc>
                  <a:txBody>
                    <a:bodyPr/>
                    <a:lstStyle/>
                    <a:p>
                      <a:pPr algn="l"/>
                      <a:r>
                        <a:rPr sz="1100">
                          <a:solidFill>
                            <a:srgbClr val="1F242E"/>
                          </a:solidFill>
                          <a:latin typeface="Arial"/>
                        </a:rPr>
                        <a:t>7. Configuración, Intervalos y Grabación</a:t>
                      </a:r>
                    </a:p>
                  </a:txBody>
                  <a:tcPr>
                    <a:solidFill>
                      <a:srgbClr val="FFFFFF"/>
                    </a:solidFill>
                  </a:tcPr>
                </a:tc>
                <a:tc>
                  <a:txBody>
                    <a:bodyPr/>
                    <a:lstStyle/>
                    <a:p>
                      <a:pPr algn="l"/>
                      <a:r>
                        <a:rPr sz="1100">
                          <a:solidFill>
                            <a:srgbClr val="1F242E"/>
                          </a:solidFill>
                          <a:latin typeface="Arial"/>
                        </a:rPr>
                        <a:t>15 min</a:t>
                      </a:r>
                    </a:p>
                  </a:txBody>
                  <a:tcPr>
                    <a:solidFill>
                      <a:srgbClr val="FFFFFF"/>
                    </a:solidFill>
                  </a:tcPr>
                </a:tc>
                <a:tc>
                  <a:txBody>
                    <a:bodyPr/>
                    <a:lstStyle/>
                    <a:p>
                      <a:pPr algn="l"/>
                      <a:r>
                        <a:rPr sz="1100">
                          <a:solidFill>
                            <a:srgbClr val="1F242E"/>
                          </a:solidFill>
                          <a:latin typeface="Arial"/>
                        </a:rPr>
                        <a:t>Configuración de reproducción, ensayo automático y grabación.</a:t>
                      </a:r>
                    </a:p>
                  </a:txBody>
                  <a:tcPr>
                    <a:solidFill>
                      <a:srgbClr val="FFFFFF"/>
                    </a:solidFill>
                  </a:tcPr>
                </a:tc>
                <a:extLst>
                  <a:ext uri="{0D108BD9-81ED-4DB2-BD59-A6C34878D82A}">
                    <a16:rowId xmlns:a16="http://schemas.microsoft.com/office/drawing/2014/main" val="10007"/>
                  </a:ext>
                </a:extLst>
              </a:tr>
              <a:tr h="487680">
                <a:tc>
                  <a:txBody>
                    <a:bodyPr/>
                    <a:lstStyle/>
                    <a:p>
                      <a:pPr algn="l"/>
                      <a:r>
                        <a:rPr sz="1100">
                          <a:solidFill>
                            <a:srgbClr val="1F242E"/>
                          </a:solidFill>
                          <a:latin typeface="Arial"/>
                        </a:rPr>
                        <a:t>8. Proyecto Práctico y Cierre</a:t>
                      </a:r>
                    </a:p>
                  </a:txBody>
                  <a:tcPr>
                    <a:solidFill>
                      <a:srgbClr val="EEF0F3"/>
                    </a:solidFill>
                  </a:tcPr>
                </a:tc>
                <a:tc>
                  <a:txBody>
                    <a:bodyPr/>
                    <a:lstStyle/>
                    <a:p>
                      <a:pPr algn="l"/>
                      <a:r>
                        <a:rPr sz="1100">
                          <a:solidFill>
                            <a:srgbClr val="1F242E"/>
                          </a:solidFill>
                          <a:latin typeface="Arial"/>
                        </a:rPr>
                        <a:t>15 min</a:t>
                      </a:r>
                    </a:p>
                  </a:txBody>
                  <a:tcPr>
                    <a:solidFill>
                      <a:srgbClr val="EEF0F3"/>
                    </a:solidFill>
                  </a:tcPr>
                </a:tc>
                <a:tc>
                  <a:txBody>
                    <a:bodyPr/>
                    <a:lstStyle/>
                    <a:p>
                      <a:pPr algn="l"/>
                      <a:r>
                        <a:rPr sz="1100">
                          <a:solidFill>
                            <a:srgbClr val="1F242E"/>
                          </a:solidFill>
                          <a:latin typeface="Arial"/>
                        </a:rPr>
                        <a:t>Taller rápido, buenas prácticas, retroalimentación y tarea.</a:t>
                      </a:r>
                    </a:p>
                  </a:txBody>
                  <a:tcPr>
                    <a:solidFill>
                      <a:srgbClr val="EEF0F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Repaso Rápido de Conceptos Clave (Clases 1 - 6)</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¿Tema vs. Plantilla?</a:t>
            </a:r>
          </a:p>
          <a:p>
            <a:pPr>
              <a:spcAft>
                <a:spcPts val="600"/>
              </a:spcAft>
            </a:pPr>
            <a:r>
              <a:rPr sz="1100">
                <a:solidFill>
                  <a:srgbClr val="718096"/>
                </a:solidFill>
                <a:latin typeface="Arial"/>
              </a:rPr>
              <a:t>El Tema define una paleta de colores, fuentes y efectos de forma global.</a:t>
            </a:r>
          </a:p>
          <a:p>
            <a:pPr>
              <a:spcAft>
                <a:spcPts val="600"/>
              </a:spcAft>
            </a:pPr>
            <a:r>
              <a:rPr sz="1100">
                <a:solidFill>
                  <a:srgbClr val="718096"/>
                </a:solidFill>
                <a:latin typeface="Arial"/>
              </a:rPr>
              <a:t>La Plantilla incluye el tema más contenido de muestra estructurado.</a:t>
            </a:r>
          </a:p>
        </p:txBody>
      </p:sp>
      <p:sp>
        <p:nvSpPr>
          <p:cNvPr id="5" name="Rounded Rectangle 4"/>
          <p:cNvSpPr/>
          <p:nvPr/>
        </p:nvSpPr>
        <p:spPr>
          <a:xfrm>
            <a:off x="34747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¿Patrón de Diapositivas?</a:t>
            </a:r>
          </a:p>
          <a:p>
            <a:pPr>
              <a:spcAft>
                <a:spcPts val="600"/>
              </a:spcAft>
            </a:pPr>
            <a:r>
              <a:rPr sz="1100">
                <a:solidFill>
                  <a:srgbClr val="718096"/>
                </a:solidFill>
                <a:latin typeface="Arial"/>
              </a:rPr>
              <a:t>Es la plantilla maestra que controla el diseño, tipografías y logotipos de todo el archivo.</a:t>
            </a:r>
          </a:p>
          <a:p>
            <a:pPr>
              <a:spcAft>
                <a:spcPts val="600"/>
              </a:spcAft>
            </a:pPr>
            <a:r>
              <a:rPr sz="1100">
                <a:solidFill>
                  <a:srgbClr val="718096"/>
                </a:solidFill>
                <a:latin typeface="Arial"/>
              </a:rPr>
              <a:t>Modificar el patrón cambia automáticamente todo el documento.</a:t>
            </a:r>
          </a:p>
        </p:txBody>
      </p:sp>
      <p:sp>
        <p:nvSpPr>
          <p:cNvPr id="6" name="Rounded Rectangle 5"/>
          <p:cNvSpPr/>
          <p:nvPr/>
        </p:nvSpPr>
        <p:spPr>
          <a:xfrm>
            <a:off x="62179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¿Botones de Acción?</a:t>
            </a:r>
          </a:p>
          <a:p>
            <a:pPr>
              <a:spcAft>
                <a:spcPts val="600"/>
              </a:spcAft>
            </a:pPr>
            <a:r>
              <a:rPr sz="1100">
                <a:solidFill>
                  <a:srgbClr val="718096"/>
                </a:solidFill>
                <a:latin typeface="Arial"/>
              </a:rPr>
              <a:t>Formas interactivas preestablecidas en PowerPoint.</a:t>
            </a:r>
          </a:p>
          <a:p>
            <a:pPr>
              <a:spcAft>
                <a:spcPts val="600"/>
              </a:spcAft>
            </a:pPr>
            <a:r>
              <a:rPr sz="1100">
                <a:solidFill>
                  <a:srgbClr val="718096"/>
                </a:solidFill>
                <a:latin typeface="Arial"/>
              </a:rPr>
              <a:t>Permiten navegar rápidamente (atrás, adelante, inicio) o ejecutar un archivo al hacer clic.</a:t>
            </a:r>
          </a:p>
        </p:txBody>
      </p:sp>
      <p:sp>
        <p:nvSpPr>
          <p:cNvPr id="7" name="Rounded Rectangle 6"/>
          <p:cNvSpPr/>
          <p:nvPr/>
        </p:nvSpPr>
        <p:spPr>
          <a:xfrm>
            <a:off x="89611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¿Hipervínculos?</a:t>
            </a:r>
          </a:p>
          <a:p>
            <a:pPr>
              <a:spcAft>
                <a:spcPts val="600"/>
              </a:spcAft>
            </a:pPr>
            <a:r>
              <a:rPr sz="1100">
                <a:solidFill>
                  <a:srgbClr val="718096"/>
                </a:solidFill>
                <a:latin typeface="Arial"/>
              </a:rPr>
              <a:t>Enlaces que conectan texto o imágenes con recursos externos o con diapositivas específicas.</a:t>
            </a:r>
          </a:p>
          <a:p>
            <a:pPr>
              <a:spcAft>
                <a:spcPts val="600"/>
              </a:spcAft>
            </a:pPr>
            <a:r>
              <a:rPr sz="1100">
                <a:solidFill>
                  <a:srgbClr val="718096"/>
                </a:solidFill>
                <a:latin typeface="Arial"/>
              </a:rPr>
              <a:t>Permiten una navegación no lineal.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Perspectiva del Orador Profesional</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914400" y="1828800"/>
            <a:ext cx="10362895" cy="384048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wrap="square" lIns="731520" tIns="731520" rIns="731520" rtlCol="0" anchor="ctr"/>
          <a:lstStyle/>
          <a:p>
            <a:pPr algn="ctr">
              <a:spcAft>
                <a:spcPts val="2000"/>
              </a:spcAft>
            </a:pPr>
            <a:r>
              <a:rPr sz="3200" b="1" i="1">
                <a:solidFill>
                  <a:srgbClr val="DC5F24"/>
                </a:solidFill>
                <a:latin typeface="Georgia"/>
              </a:rPr>
              <a:t>¿Una presentación bonita es necesariamente una buena presentación?</a:t>
            </a:r>
          </a:p>
          <a:p>
            <a:pPr algn="ctr"/>
            <a:r>
              <a:rPr sz="1600">
                <a:solidFill>
                  <a:srgbClr val="FFFFFF"/>
                </a:solidFill>
                <a:latin typeface="Arial"/>
              </a:rPr>
              <a:t>La estética es crucial, pero es solo el vehículo.</a:t>
            </a:r>
            <a:r>
              <a:t/>
            </a:r>
            <a:br/>
            <a:r>
              <a:rPr sz="1600">
                <a:solidFill>
                  <a:srgbClr val="FFFFFF"/>
                </a:solidFill>
                <a:latin typeface="Arial"/>
              </a:rPr>
              <a:t>El impacto real de una presentación profesional se sostiene en tres dimensiones equilibradas...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¿Qué hace Profesional a una Presentación?</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Diseño Profesional</a:t>
            </a:r>
          </a:p>
          <a:p>
            <a:pPr>
              <a:spcAft>
                <a:spcPts val="600"/>
              </a:spcAft>
            </a:pPr>
            <a:r>
              <a:rPr sz="1100">
                <a:solidFill>
                  <a:srgbClr val="718096"/>
                </a:solidFill>
                <a:latin typeface="Arial"/>
              </a:rPr>
              <a:t>• Coherencia visual: Paleta de colores restringida (3-4 colores) [3].</a:t>
            </a:r>
          </a:p>
          <a:p>
            <a:pPr>
              <a:spcAft>
                <a:spcPts val="600"/>
              </a:spcAft>
            </a:pPr>
            <a:r>
              <a:rPr sz="1100">
                <a:solidFill>
                  <a:srgbClr val="718096"/>
                </a:solidFill>
                <a:latin typeface="Arial"/>
              </a:rPr>
              <a:t>• Tipografías altamente legibles (tamaño mínimo 14-16 para cuerpo) [3].</a:t>
            </a:r>
          </a:p>
          <a:p>
            <a:pPr>
              <a:spcAft>
                <a:spcPts val="600"/>
              </a:spcAft>
            </a:pPr>
            <a:r>
              <a:rPr sz="1100">
                <a:solidFill>
                  <a:srgbClr val="718096"/>
                </a:solidFill>
                <a:latin typeface="Arial"/>
              </a:rPr>
              <a:t>• Distribución equilibrada del espacio en blanco [3].</a:t>
            </a:r>
          </a:p>
          <a:p>
            <a:pPr>
              <a:spcAft>
                <a:spcPts val="600"/>
              </a:spcAft>
            </a:pPr>
            <a:r>
              <a:rPr sz="1100">
                <a:solidFill>
                  <a:srgbClr val="718096"/>
                </a:solidFill>
                <a:latin typeface="Arial"/>
              </a:rPr>
              <a:t>• Imágenes de alta calidad y resolución (nunca pixeladas o deformadas) [3].</a:t>
            </a:r>
          </a:p>
        </p:txBody>
      </p:sp>
      <p:sp>
        <p:nvSpPr>
          <p:cNvPr id="5" name="Rectangle 4"/>
          <p:cNvSpPr/>
          <p:nvPr/>
        </p:nvSpPr>
        <p:spPr>
          <a:xfrm>
            <a:off x="731520" y="1645920"/>
            <a:ext cx="3383280" cy="7620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Contenido Optimizado</a:t>
            </a:r>
          </a:p>
          <a:p>
            <a:pPr>
              <a:spcAft>
                <a:spcPts val="600"/>
              </a:spcAft>
            </a:pPr>
            <a:r>
              <a:rPr sz="1100">
                <a:solidFill>
                  <a:srgbClr val="718096"/>
                </a:solidFill>
                <a:latin typeface="Arial"/>
              </a:rPr>
              <a:t>• Información sintetizada: Transmitir conceptos clave, no parágrafos extensos [3].</a:t>
            </a:r>
          </a:p>
          <a:p>
            <a:pPr>
              <a:spcAft>
                <a:spcPts val="600"/>
              </a:spcAft>
            </a:pPr>
            <a:r>
              <a:rPr sz="1100">
                <a:solidFill>
                  <a:srgbClr val="718096"/>
                </a:solidFill>
                <a:latin typeface="Arial"/>
              </a:rPr>
              <a:t>• Regla de pocas palabras: Enfocar ideas principales de forma clara [3].</a:t>
            </a:r>
          </a:p>
          <a:p>
            <a:pPr>
              <a:spcAft>
                <a:spcPts val="600"/>
              </a:spcAft>
            </a:pPr>
            <a:r>
              <a:rPr sz="1100">
                <a:solidFill>
                  <a:srgbClr val="718096"/>
                </a:solidFill>
                <a:latin typeface="Arial"/>
              </a:rPr>
              <a:t>• Jerarquización: Lo más importante debe destacar a primera vista [3].</a:t>
            </a:r>
          </a:p>
          <a:p>
            <a:pPr>
              <a:spcAft>
                <a:spcPts val="600"/>
              </a:spcAft>
            </a:pPr>
            <a:r>
              <a:rPr sz="1100">
                <a:solidFill>
                  <a:srgbClr val="718096"/>
                </a:solidFill>
                <a:latin typeface="Arial"/>
              </a:rPr>
              <a:t>• Apoyo cognitivo: El texto complementa, no reemplaza la voz [5].</a:t>
            </a:r>
          </a:p>
        </p:txBody>
      </p:sp>
      <p:sp>
        <p:nvSpPr>
          <p:cNvPr id="7" name="Rectangle 6"/>
          <p:cNvSpPr/>
          <p:nvPr/>
        </p:nvSpPr>
        <p:spPr>
          <a:xfrm>
            <a:off x="4389120" y="1645920"/>
            <a:ext cx="3383280" cy="762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Exposición de Alto Nivel</a:t>
            </a:r>
          </a:p>
          <a:p>
            <a:pPr>
              <a:spcAft>
                <a:spcPts val="600"/>
              </a:spcAft>
            </a:pPr>
            <a:r>
              <a:rPr sz="1100">
                <a:solidFill>
                  <a:srgbClr val="718096"/>
                </a:solidFill>
                <a:latin typeface="Arial"/>
              </a:rPr>
              <a:t>• Comunicación asertiva: Modulación de voz, tono claro y pausado [4, 10].</a:t>
            </a:r>
          </a:p>
          <a:p>
            <a:pPr>
              <a:spcAft>
                <a:spcPts val="600"/>
              </a:spcAft>
            </a:pPr>
            <a:r>
              <a:rPr sz="1100">
                <a:solidFill>
                  <a:srgbClr val="718096"/>
                </a:solidFill>
                <a:latin typeface="Arial"/>
              </a:rPr>
              <a:t>• Conexión: Contacto visual constante y lenguaje corporal abierto [4, 10].</a:t>
            </a:r>
          </a:p>
          <a:p>
            <a:pPr>
              <a:spcAft>
                <a:spcPts val="600"/>
              </a:spcAft>
            </a:pPr>
            <a:r>
              <a:rPr sz="1100">
                <a:solidFill>
                  <a:srgbClr val="718096"/>
                </a:solidFill>
                <a:latin typeface="Arial"/>
              </a:rPr>
              <a:t>• Dominio del Tiempo: Control estricto de la duración (ensayo previo) [4, 10].</a:t>
            </a:r>
          </a:p>
          <a:p>
            <a:pPr>
              <a:spcAft>
                <a:spcPts val="600"/>
              </a:spcAft>
            </a:pPr>
            <a:r>
              <a:rPr sz="1100">
                <a:solidFill>
                  <a:srgbClr val="718096"/>
                </a:solidFill>
                <a:latin typeface="Arial"/>
              </a:rPr>
              <a:t>• Seguridad: Confianza generada al dominar el tema y las notas [4, 10].</a:t>
            </a:r>
          </a:p>
        </p:txBody>
      </p:sp>
      <p:sp>
        <p:nvSpPr>
          <p:cNvPr id="9" name="Rectangle 8"/>
          <p:cNvSpPr/>
          <p:nvPr/>
        </p:nvSpPr>
        <p:spPr>
          <a:xfrm>
            <a:off x="8046720" y="1645920"/>
            <a:ext cx="3383280" cy="76200"/>
          </a:xfrm>
          <a:prstGeom prst="rect">
            <a:avLst/>
          </a:prstGeom>
          <a:solidFill>
            <a:srgbClr val="1F2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Principios de Diseño Profesional: El Sistema CRAP</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C - Contraste</a:t>
            </a:r>
          </a:p>
          <a:p>
            <a:pPr>
              <a:spcAft>
                <a:spcPts val="600"/>
              </a:spcAft>
            </a:pPr>
            <a:r>
              <a:rPr sz="1100">
                <a:solidFill>
                  <a:srgbClr val="718096"/>
                </a:solidFill>
                <a:latin typeface="Arial"/>
              </a:rPr>
              <a:t>Si dos elementos no son idénticos, hazlos extremadamente diferentes.</a:t>
            </a:r>
          </a:p>
          <a:p>
            <a:pPr>
              <a:spcAft>
                <a:spcPts val="600"/>
              </a:spcAft>
            </a:pPr>
            <a:r>
              <a:rPr sz="1100">
                <a:solidFill>
                  <a:srgbClr val="718096"/>
                </a:solidFill>
                <a:latin typeface="Arial"/>
              </a:rPr>
              <a:t>Evita que se confundan el texto y el fondo.</a:t>
            </a:r>
          </a:p>
        </p:txBody>
      </p:sp>
      <p:sp>
        <p:nvSpPr>
          <p:cNvPr id="5" name="TextBox 4"/>
          <p:cNvSpPr txBox="1"/>
          <p:nvPr/>
        </p:nvSpPr>
        <p:spPr>
          <a:xfrm>
            <a:off x="914400" y="4206240"/>
            <a:ext cx="2103120" cy="1097280"/>
          </a:xfrm>
          <a:prstGeom prst="rect">
            <a:avLst/>
          </a:prstGeom>
          <a:noFill/>
        </p:spPr>
        <p:txBody>
          <a:bodyPr wrap="none">
            <a:spAutoFit/>
          </a:bodyPr>
          <a:lstStyle/>
          <a:p>
            <a:pPr algn="r"/>
            <a:r>
              <a:rPr sz="6400" b="1">
                <a:solidFill>
                  <a:srgbClr val="EAEDF1"/>
                </a:solidFill>
                <a:latin typeface="Georgia"/>
              </a:rPr>
              <a:t>C</a:t>
            </a:r>
          </a:p>
        </p:txBody>
      </p:sp>
      <p:sp>
        <p:nvSpPr>
          <p:cNvPr id="6" name="Rounded Rectangle 5"/>
          <p:cNvSpPr/>
          <p:nvPr/>
        </p:nvSpPr>
        <p:spPr>
          <a:xfrm>
            <a:off x="34747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R - Repetición</a:t>
            </a:r>
          </a:p>
          <a:p>
            <a:pPr>
              <a:spcAft>
                <a:spcPts val="600"/>
              </a:spcAft>
            </a:pPr>
            <a:r>
              <a:rPr sz="1100">
                <a:solidFill>
                  <a:srgbClr val="718096"/>
                </a:solidFill>
                <a:latin typeface="Arial"/>
              </a:rPr>
              <a:t>Repite aspectos de diseño a lo largo de toda la presentación.</a:t>
            </a:r>
          </a:p>
          <a:p>
            <a:pPr>
              <a:spcAft>
                <a:spcPts val="600"/>
              </a:spcAft>
            </a:pPr>
            <a:r>
              <a:rPr sz="1100">
                <a:solidFill>
                  <a:srgbClr val="718096"/>
                </a:solidFill>
                <a:latin typeface="Arial"/>
              </a:rPr>
              <a:t>Consistencia en colores, fuentes, layouts e íconos.</a:t>
            </a:r>
          </a:p>
        </p:txBody>
      </p:sp>
      <p:sp>
        <p:nvSpPr>
          <p:cNvPr id="7" name="TextBox 6"/>
          <p:cNvSpPr txBox="1"/>
          <p:nvPr/>
        </p:nvSpPr>
        <p:spPr>
          <a:xfrm>
            <a:off x="3657600" y="4206240"/>
            <a:ext cx="2103120" cy="1097280"/>
          </a:xfrm>
          <a:prstGeom prst="rect">
            <a:avLst/>
          </a:prstGeom>
          <a:noFill/>
        </p:spPr>
        <p:txBody>
          <a:bodyPr wrap="none">
            <a:spAutoFit/>
          </a:bodyPr>
          <a:lstStyle/>
          <a:p>
            <a:pPr algn="r"/>
            <a:r>
              <a:rPr sz="6400" b="1">
                <a:solidFill>
                  <a:srgbClr val="EAEDF1"/>
                </a:solidFill>
                <a:latin typeface="Georgia"/>
              </a:rPr>
              <a:t>R</a:t>
            </a:r>
          </a:p>
        </p:txBody>
      </p:sp>
      <p:sp>
        <p:nvSpPr>
          <p:cNvPr id="8" name="Rounded Rectangle 7"/>
          <p:cNvSpPr/>
          <p:nvPr/>
        </p:nvSpPr>
        <p:spPr>
          <a:xfrm>
            <a:off x="62179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A - Alineación</a:t>
            </a:r>
          </a:p>
          <a:p>
            <a:pPr>
              <a:spcAft>
                <a:spcPts val="600"/>
              </a:spcAft>
            </a:pPr>
            <a:r>
              <a:rPr sz="1100">
                <a:solidFill>
                  <a:srgbClr val="718096"/>
                </a:solidFill>
                <a:latin typeface="Arial"/>
              </a:rPr>
              <a:t>Cada elemento debe tener una conexión visual con otro.</a:t>
            </a:r>
          </a:p>
          <a:p>
            <a:pPr>
              <a:spcAft>
                <a:spcPts val="600"/>
              </a:spcAft>
            </a:pPr>
            <a:r>
              <a:rPr sz="1100">
                <a:solidFill>
                  <a:srgbClr val="718096"/>
                </a:solidFill>
                <a:latin typeface="Arial"/>
              </a:rPr>
              <a:t>Evita la colocación arbitraria; usa grillas invisibles.</a:t>
            </a:r>
          </a:p>
        </p:txBody>
      </p:sp>
      <p:sp>
        <p:nvSpPr>
          <p:cNvPr id="9" name="TextBox 8"/>
          <p:cNvSpPr txBox="1"/>
          <p:nvPr/>
        </p:nvSpPr>
        <p:spPr>
          <a:xfrm>
            <a:off x="6400800" y="4206240"/>
            <a:ext cx="2103120" cy="1097280"/>
          </a:xfrm>
          <a:prstGeom prst="rect">
            <a:avLst/>
          </a:prstGeom>
          <a:noFill/>
        </p:spPr>
        <p:txBody>
          <a:bodyPr wrap="none">
            <a:spAutoFit/>
          </a:bodyPr>
          <a:lstStyle/>
          <a:p>
            <a:pPr algn="r"/>
            <a:r>
              <a:rPr sz="6400" b="1">
                <a:solidFill>
                  <a:srgbClr val="EAEDF1"/>
                </a:solidFill>
                <a:latin typeface="Georgia"/>
              </a:rPr>
              <a:t>A</a:t>
            </a:r>
          </a:p>
        </p:txBody>
      </p:sp>
      <p:sp>
        <p:nvSpPr>
          <p:cNvPr id="10" name="Rounded Rectangle 9"/>
          <p:cNvSpPr/>
          <p:nvPr/>
        </p:nvSpPr>
        <p:spPr>
          <a:xfrm>
            <a:off x="89611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P - Proximidad</a:t>
            </a:r>
          </a:p>
          <a:p>
            <a:pPr>
              <a:spcAft>
                <a:spcPts val="600"/>
              </a:spcAft>
            </a:pPr>
            <a:r>
              <a:rPr sz="1100">
                <a:solidFill>
                  <a:srgbClr val="718096"/>
                </a:solidFill>
                <a:latin typeface="Arial"/>
              </a:rPr>
              <a:t>Agrupa elementos relacionados físicamente.</a:t>
            </a:r>
          </a:p>
          <a:p>
            <a:pPr>
              <a:spcAft>
                <a:spcPts val="600"/>
              </a:spcAft>
            </a:pPr>
            <a:r>
              <a:rPr sz="1100">
                <a:solidFill>
                  <a:srgbClr val="718096"/>
                </a:solidFill>
                <a:latin typeface="Arial"/>
              </a:rPr>
              <a:t>Los espacios en blanco organizan la estructura visual.</a:t>
            </a:r>
          </a:p>
        </p:txBody>
      </p:sp>
      <p:sp>
        <p:nvSpPr>
          <p:cNvPr id="11" name="TextBox 10"/>
          <p:cNvSpPr txBox="1"/>
          <p:nvPr/>
        </p:nvSpPr>
        <p:spPr>
          <a:xfrm>
            <a:off x="9144000" y="4206240"/>
            <a:ext cx="2103120" cy="1097280"/>
          </a:xfrm>
          <a:prstGeom prst="rect">
            <a:avLst/>
          </a:prstGeom>
          <a:noFill/>
        </p:spPr>
        <p:txBody>
          <a:bodyPr wrap="none">
            <a:spAutoFit/>
          </a:bodyPr>
          <a:lstStyle/>
          <a:p>
            <a:pPr algn="r"/>
            <a:r>
              <a:rPr sz="6400" b="1">
                <a:solidFill>
                  <a:srgbClr val="EAEDF1"/>
                </a:solidFill>
                <a:latin typeface="Georgia"/>
              </a:rPr>
              <a:t>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CRAP en la Exposición: Contraste y Repetición</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Regla de Contraste</a:t>
            </a:r>
          </a:p>
          <a:p>
            <a:pPr>
              <a:spcAft>
                <a:spcPts val="600"/>
              </a:spcAft>
            </a:pPr>
            <a:r>
              <a:rPr sz="1200">
                <a:solidFill>
                  <a:srgbClr val="718096"/>
                </a:solidFill>
                <a:latin typeface="Arial"/>
              </a:rPr>
              <a:t>• El texto debe distinguirse claramente del fondo: evita combinaciones de bajo contraste (ej. texto gris sobre fondo blanco) [4].</a:t>
            </a:r>
          </a:p>
          <a:p>
            <a:pPr>
              <a:spcAft>
                <a:spcPts val="600"/>
              </a:spcAft>
            </a:pPr>
            <a:r>
              <a:rPr sz="1200">
                <a:solidFill>
                  <a:srgbClr val="718096"/>
                </a:solidFill>
                <a:latin typeface="Arial"/>
              </a:rPr>
              <a:t>• Jerarquía tipográfica: Utiliza contrastes marcados de tamaño (títulos grandes, subtítulos medianos, texto de cuerpo pequeño) [4].</a:t>
            </a:r>
          </a:p>
          <a:p>
            <a:pPr>
              <a:spcAft>
                <a:spcPts val="600"/>
              </a:spcAft>
            </a:pPr>
            <a:r>
              <a:rPr sz="1200">
                <a:solidFill>
                  <a:srgbClr val="718096"/>
                </a:solidFill>
                <a:latin typeface="Arial"/>
              </a:rPr>
              <a:t>• Énfasis de color: Usa un color de acento único (como el naranja en esta plantilla) solo para destacar palabras o datos críticos [3].</a:t>
            </a:r>
          </a:p>
          <a:p>
            <a:pPr>
              <a:spcAft>
                <a:spcPts val="600"/>
              </a:spcAft>
            </a:pPr>
            <a:r>
              <a:rPr sz="1200">
                <a:solidFill>
                  <a:srgbClr val="718096"/>
                </a:solidFill>
                <a:latin typeface="Arial"/>
              </a:rPr>
              <a:t>• Peso visual: El contraste ayuda al ojo del espectador a saber qué es lo más importante de inmediato.</a:t>
            </a:r>
          </a:p>
        </p:txBody>
      </p:sp>
      <p:sp>
        <p:nvSpPr>
          <p:cNvPr id="5" name="Rounded Rectangle 4"/>
          <p:cNvSpPr/>
          <p:nvPr/>
        </p:nvSpPr>
        <p:spPr>
          <a:xfrm>
            <a:off x="62179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Regla de Repetición</a:t>
            </a:r>
          </a:p>
          <a:p>
            <a:pPr>
              <a:spcAft>
                <a:spcPts val="600"/>
              </a:spcAft>
            </a:pPr>
            <a:r>
              <a:rPr sz="1200">
                <a:solidFill>
                  <a:srgbClr val="718096"/>
                </a:solidFill>
                <a:latin typeface="Arial"/>
              </a:rPr>
              <a:t>• Consistencia absoluta: Mantén un estilo visual uniforme durante toda la presentación (misma paleta de colores, familias tipográficas y layouts) [4].</a:t>
            </a:r>
          </a:p>
          <a:p>
            <a:pPr>
              <a:spcAft>
                <a:spcPts val="600"/>
              </a:spcAft>
            </a:pPr>
            <a:r>
              <a:rPr sz="1200">
                <a:solidFill>
                  <a:srgbClr val="718096"/>
                </a:solidFill>
                <a:latin typeface="Arial"/>
              </a:rPr>
              <a:t>• Plantilla única: Si usas formas o viñetas cuadradas, no las mezcles aleatoriamente con círculos o bordes redondeados.</a:t>
            </a:r>
          </a:p>
          <a:p>
            <a:pPr>
              <a:spcAft>
                <a:spcPts val="600"/>
              </a:spcAft>
            </a:pPr>
            <a:r>
              <a:rPr sz="1200">
                <a:solidFill>
                  <a:srgbClr val="718096"/>
                </a:solidFill>
                <a:latin typeface="Arial"/>
              </a:rPr>
              <a:t>• Flujo coherente: La repetición crea una 'identidad de marca' para tu exposición, dando sensación de profesionalismo, orden y planificación [3, 4].</a:t>
            </a:r>
          </a:p>
          <a:p>
            <a:pPr>
              <a:spcAft>
                <a:spcPts val="600"/>
              </a:spcAft>
            </a:pPr>
            <a:r>
              <a:rPr sz="1200">
                <a:solidFill>
                  <a:srgbClr val="718096"/>
                </a:solidFill>
                <a:latin typeface="Arial"/>
              </a:rPr>
              <a:t>• Ayuda visual: Facilita que el espectador se concentre en el contenido, no en descifrar un diseño nuevo en cada diapositiva.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CRAP en la Exposición: Alineación y Proximidad</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Regla de Alineación</a:t>
            </a:r>
          </a:p>
          <a:p>
            <a:pPr>
              <a:spcAft>
                <a:spcPts val="600"/>
              </a:spcAft>
            </a:pPr>
            <a:r>
              <a:rPr sz="1200">
                <a:solidFill>
                  <a:srgbClr val="718096"/>
                </a:solidFill>
                <a:latin typeface="Arial"/>
              </a:rPr>
              <a:t>• Cuadrícula invisible: Cada elemento debe alinearse con precisión respecto a otros en la diapositiva [4]. Evita la colocación arbitraria.</a:t>
            </a:r>
          </a:p>
          <a:p>
            <a:pPr>
              <a:spcAft>
                <a:spcPts val="600"/>
              </a:spcAft>
            </a:pPr>
            <a:r>
              <a:rPr sz="1200">
                <a:solidFill>
                  <a:srgbClr val="718096"/>
                </a:solidFill>
                <a:latin typeface="Arial"/>
              </a:rPr>
              <a:t>• Limpieza y orden: El texto alineado a la izquierda es el más fácil de leer para el público occidental. Reserva el texto centrado solo para títulos breves.</a:t>
            </a:r>
          </a:p>
          <a:p>
            <a:pPr>
              <a:spcAft>
                <a:spcPts val="600"/>
              </a:spcAft>
            </a:pPr>
            <a:r>
              <a:rPr sz="1200">
                <a:solidFill>
                  <a:srgbClr val="718096"/>
                </a:solidFill>
                <a:latin typeface="Arial"/>
              </a:rPr>
              <a:t>• Conexión visual: La alineación intencional elimina la sensación de desorden y hace que la diapositiva parezca pulida y profesional [4].</a:t>
            </a:r>
          </a:p>
          <a:p>
            <a:pPr>
              <a:spcAft>
                <a:spcPts val="600"/>
              </a:spcAft>
            </a:pPr>
            <a:r>
              <a:rPr sz="1200">
                <a:solidFill>
                  <a:srgbClr val="718096"/>
                </a:solidFill>
                <a:latin typeface="Arial"/>
              </a:rPr>
              <a:t>• Tip de herramienta: Usa las guías y cuadrículas integradas en PowerPoint (Vista -&gt; Guías) para alinear con precisión milimétrica.</a:t>
            </a:r>
          </a:p>
        </p:txBody>
      </p:sp>
      <p:sp>
        <p:nvSpPr>
          <p:cNvPr id="5" name="Rounded Rectangle 4"/>
          <p:cNvSpPr/>
          <p:nvPr/>
        </p:nvSpPr>
        <p:spPr>
          <a:xfrm>
            <a:off x="62179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Regla de Proximidad</a:t>
            </a:r>
          </a:p>
          <a:p>
            <a:pPr>
              <a:spcAft>
                <a:spcPts val="600"/>
              </a:spcAft>
            </a:pPr>
            <a:r>
              <a:rPr sz="1200">
                <a:solidFill>
                  <a:srgbClr val="718096"/>
                </a:solidFill>
                <a:latin typeface="Arial"/>
              </a:rPr>
              <a:t>• Relación espacial: Los elementos que están relacionados deben estar cerca físicamente, formando grupos lógicos [4].</a:t>
            </a:r>
          </a:p>
          <a:p>
            <a:pPr>
              <a:spcAft>
                <a:spcPts val="600"/>
              </a:spcAft>
            </a:pPr>
            <a:r>
              <a:rPr sz="1200">
                <a:solidFill>
                  <a:srgbClr val="718096"/>
                </a:solidFill>
                <a:latin typeface="Arial"/>
              </a:rPr>
              <a:t>• Estructuración: Los elementos que no están relacionados deben separarse claramente con espacios vacíos [4].</a:t>
            </a:r>
          </a:p>
          <a:p>
            <a:pPr>
              <a:spcAft>
                <a:spcPts val="600"/>
              </a:spcAft>
            </a:pPr>
            <a:r>
              <a:rPr sz="1200">
                <a:solidFill>
                  <a:srgbClr val="718096"/>
                </a:solidFill>
                <a:latin typeface="Arial"/>
              </a:rPr>
              <a:t>• Reducción de carga cognitiva: Al agrupar conceptos, el público comprende la estructura de la diapositiva en un milisegundo sin tener que leer todo.</a:t>
            </a:r>
          </a:p>
          <a:p>
            <a:pPr>
              <a:spcAft>
                <a:spcPts val="600"/>
              </a:spcAft>
            </a:pPr>
            <a:r>
              <a:rPr sz="1200">
                <a:solidFill>
                  <a:srgbClr val="718096"/>
                </a:solidFill>
                <a:latin typeface="Arial"/>
              </a:rPr>
              <a:t>• Aire visual: El espacio en blanco no es espacio desperdiciado; es el aire que permite respirar al diseño.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Optimización de Diapositivas: Menos es Más</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FFFFFF"/>
          </a:solidFill>
          <a:ln w="19050">
            <a:solidFill>
              <a:srgbClr val="DF4747"/>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Lo que debemos EVITAR</a:t>
            </a:r>
          </a:p>
          <a:p>
            <a:pPr>
              <a:spcAft>
                <a:spcPts val="600"/>
              </a:spcAft>
            </a:pPr>
            <a:r>
              <a:rPr sz="1200">
                <a:solidFill>
                  <a:srgbClr val="718096"/>
                </a:solidFill>
                <a:latin typeface="Arial"/>
              </a:rPr>
              <a:t>• Convertir la diapositiva en un 'documento de lectura': Llenar la pantalla de párrafos extensos e ininterrumpidos [5].</a:t>
            </a:r>
          </a:p>
          <a:p>
            <a:pPr>
              <a:spcAft>
                <a:spcPts val="600"/>
              </a:spcAft>
            </a:pPr>
            <a:r>
              <a:rPr sz="1200">
                <a:solidFill>
                  <a:srgbClr val="718096"/>
                </a:solidFill>
                <a:latin typeface="Arial"/>
              </a:rPr>
              <a:t>• Leer textualmente: Estar de espaldas leyendo textualmente todo lo que aparece en pantalla (aburre y destruye tu autoridad) [5].</a:t>
            </a:r>
          </a:p>
          <a:p>
            <a:pPr>
              <a:spcAft>
                <a:spcPts val="600"/>
              </a:spcAft>
            </a:pPr>
            <a:r>
              <a:rPr sz="1200">
                <a:solidFill>
                  <a:srgbClr val="718096"/>
                </a:solidFill>
                <a:latin typeface="Arial"/>
              </a:rPr>
              <a:t>• Saturar con viñetas: Listas interminables de viñetas genéricas de más de 3 líneas cada una.</a:t>
            </a:r>
          </a:p>
          <a:p>
            <a:pPr>
              <a:spcAft>
                <a:spcPts val="600"/>
              </a:spcAft>
            </a:pPr>
            <a:r>
              <a:rPr sz="1200">
                <a:solidFill>
                  <a:srgbClr val="718096"/>
                </a:solidFill>
                <a:latin typeface="Arial"/>
              </a:rPr>
              <a:t>• Sobrecargar con datos crudos: Copiar tablas gigantes de Excel directamente sin filtrar.</a:t>
            </a:r>
          </a:p>
        </p:txBody>
      </p:sp>
      <p:sp>
        <p:nvSpPr>
          <p:cNvPr id="5" name="Rounded Rectangle 4"/>
          <p:cNvSpPr/>
          <p:nvPr/>
        </p:nvSpPr>
        <p:spPr>
          <a:xfrm>
            <a:off x="6217920" y="1645920"/>
            <a:ext cx="5212080" cy="4114800"/>
          </a:xfrm>
          <a:prstGeom prst="roundRect">
            <a:avLst/>
          </a:prstGeom>
          <a:solidFill>
            <a:srgbClr val="FFFFFF"/>
          </a:solidFill>
          <a:ln w="19050">
            <a:solidFill>
              <a:srgbClr val="4E9F3D"/>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Lo que debemos HACER</a:t>
            </a:r>
          </a:p>
          <a:p>
            <a:pPr>
              <a:spcAft>
                <a:spcPts val="600"/>
              </a:spcAft>
            </a:pPr>
            <a:r>
              <a:rPr sz="1200">
                <a:solidFill>
                  <a:srgbClr val="718096"/>
                </a:solidFill>
                <a:latin typeface="Arial"/>
              </a:rPr>
              <a:t>• Utilizar palabras clave: Frases cortas y contundentes que fijen la idea en la mente del público [5].</a:t>
            </a:r>
          </a:p>
          <a:p>
            <a:pPr>
              <a:spcAft>
                <a:spcPts val="600"/>
              </a:spcAft>
            </a:pPr>
            <a:r>
              <a:rPr sz="1200">
                <a:solidFill>
                  <a:srgbClr val="718096"/>
                </a:solidFill>
                <a:latin typeface="Arial"/>
              </a:rPr>
              <a:t>• Apoyarse en lo visual: Utilizar imágenes conceptuales de alta calidad, diagramas o gráficos sencillos [5].</a:t>
            </a:r>
          </a:p>
          <a:p>
            <a:pPr>
              <a:spcAft>
                <a:spcPts val="600"/>
              </a:spcAft>
            </a:pPr>
            <a:r>
              <a:rPr sz="1200">
                <a:solidFill>
                  <a:srgbClr val="718096"/>
                </a:solidFill>
                <a:latin typeface="Arial"/>
              </a:rPr>
              <a:t>• Diapositivas como apoyo: Recordar que la diapositiva es un lienzo visual para la audiencia; el contenido detallado reside en tu voz [5].</a:t>
            </a:r>
          </a:p>
          <a:p>
            <a:pPr>
              <a:spcAft>
                <a:spcPts val="600"/>
              </a:spcAft>
            </a:pPr>
            <a:r>
              <a:rPr sz="1200">
                <a:solidFill>
                  <a:srgbClr val="718096"/>
                </a:solidFill>
                <a:latin typeface="Arial"/>
              </a:rPr>
              <a:t>• Dejar espacios en blanco: Permitir que la información respire para que sea asimilada fácilmente.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Actividad Práctica 1: Sintetizar un Bloque de Texto</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0">
                <a:solidFill>
                  <a:srgbClr val="1F242E"/>
                </a:solidFill>
                <a:latin typeface="Georgia"/>
              </a:rPr>
              <a:t>Texto saturado original (❌ Evitar)</a:t>
            </a:r>
          </a:p>
          <a:p>
            <a:pPr>
              <a:spcAft>
                <a:spcPts val="600"/>
              </a:spcAft>
            </a:pPr>
            <a:r>
              <a:rPr sz="1100">
                <a:solidFill>
                  <a:srgbClr val="718096"/>
                </a:solidFill>
                <a:latin typeface="Arial"/>
              </a:rPr>
              <a:t>Nuestra empresa se fundó en el año 2021 con el firme propósito de ofrecer soluciones de desarrollo de software a medida para pequeñas y medianas empresas locales, ya que nos dimos cuenta de que muchas de ellas no tienen el presupuesto suficiente para contratar grandes agencias, de modo que creamos un modelo de suscripción mensual muy accesible que les permite tener soporte continuo, diseño de aplicaciones web modernas, actualizaciones sin costos adicionales y asesoría técnica personalizada las 24 horas del día.</a:t>
            </a:r>
          </a:p>
        </p:txBody>
      </p:sp>
      <p:sp>
        <p:nvSpPr>
          <p:cNvPr id="5" name="Rounded Rectangle 4"/>
          <p:cNvSpPr/>
          <p:nvPr/>
        </p:nvSpPr>
        <p:spPr>
          <a:xfrm>
            <a:off x="6217920" y="1645920"/>
            <a:ext cx="521208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Versión sintetizada profesional (✅ Recomendado)</a:t>
            </a:r>
          </a:p>
          <a:p>
            <a:pPr>
              <a:spcAft>
                <a:spcPts val="600"/>
              </a:spcAft>
            </a:pPr>
            <a:r>
              <a:rPr sz="1100">
                <a:solidFill>
                  <a:srgbClr val="718096"/>
                </a:solidFill>
                <a:latin typeface="Arial"/>
              </a:rPr>
              <a:t>• Soluciones de software para PYMEs: Desarrollo a medida y accesible.</a:t>
            </a:r>
          </a:p>
          <a:p>
            <a:pPr>
              <a:spcAft>
                <a:spcPts val="600"/>
              </a:spcAft>
            </a:pPr>
            <a:r>
              <a:rPr sz="1100">
                <a:solidFill>
                  <a:srgbClr val="718096"/>
                </a:solidFill>
                <a:latin typeface="Arial"/>
              </a:rPr>
              <a:t>• Modelo de Suscripción Mensual: Soporte continuo sin grandes inversiones iniciales.</a:t>
            </a:r>
          </a:p>
          <a:p>
            <a:pPr>
              <a:spcAft>
                <a:spcPts val="600"/>
              </a:spcAft>
            </a:pPr>
            <a:r>
              <a:rPr sz="1100">
                <a:solidFill>
                  <a:srgbClr val="718096"/>
                </a:solidFill>
                <a:latin typeface="Arial"/>
              </a:rPr>
              <a:t>• Cobertura Integral: Aplicaciones web modernas, actualizaciones y asesoría técnica 24/7.</a:t>
            </a:r>
          </a:p>
        </p:txBody>
      </p:sp>
      <p:sp>
        <p:nvSpPr>
          <p:cNvPr id="6" name="Rectangle 5"/>
          <p:cNvSpPr/>
          <p:nvPr/>
        </p:nvSpPr>
        <p:spPr>
          <a:xfrm>
            <a:off x="731520" y="5120640"/>
            <a:ext cx="10698480" cy="100584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Arial"/>
              </a:rPr>
              <a:t>RETO RÁPIDO (10 MINUTOS): Abre el borrador de tu proyecto 'Mi empresa o negocio ideal'. Selecciona una diapositiva que tenga demasiado texto y aplícale síntesis, reduciéndola a 3-5 ideas clave [5,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Notas del Presentador: Tu Guía de Apoyo Secreta</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¿Qué son?</a:t>
            </a:r>
          </a:p>
          <a:p>
            <a:pPr>
              <a:spcAft>
                <a:spcPts val="600"/>
              </a:spcAft>
            </a:pPr>
            <a:r>
              <a:rPr sz="1100">
                <a:solidFill>
                  <a:srgbClr val="718096"/>
                </a:solidFill>
                <a:latin typeface="Arial"/>
              </a:rPr>
              <a:t>Son un área de texto oculta vinculada a cada diapositiva [5].</a:t>
            </a:r>
          </a:p>
          <a:p>
            <a:pPr>
              <a:spcAft>
                <a:spcPts val="600"/>
              </a:spcAft>
            </a:pPr>
            <a:r>
              <a:rPr sz="1100">
                <a:solidFill>
                  <a:srgbClr val="718096"/>
                </a:solidFill>
                <a:latin typeface="Arial"/>
              </a:rPr>
              <a:t>Permiten almacenar información detallada que el público no necesita ver en pantalla, pero que tú sí necesitas recordar [5-6].</a:t>
            </a:r>
          </a:p>
          <a:p>
            <a:pPr>
              <a:spcAft>
                <a:spcPts val="600"/>
              </a:spcAft>
            </a:pPr>
            <a:r>
              <a:rPr sz="1100">
                <a:solidFill>
                  <a:srgbClr val="718096"/>
                </a:solidFill>
                <a:latin typeface="Arial"/>
              </a:rPr>
              <a:t>Es el secreto de los oradores profesionales para mantener diapositivas limpias sin olvidar detalles técnicos.</a:t>
            </a:r>
          </a:p>
        </p:txBody>
      </p:sp>
      <p:sp>
        <p:nvSpPr>
          <p:cNvPr id="5" name="Rectangle 4"/>
          <p:cNvSpPr/>
          <p:nvPr/>
        </p:nvSpPr>
        <p:spPr>
          <a:xfrm>
            <a:off x="731520" y="1645920"/>
            <a:ext cx="3383280" cy="7620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¿Qué deben contener?</a:t>
            </a:r>
          </a:p>
          <a:p>
            <a:pPr>
              <a:spcAft>
                <a:spcPts val="600"/>
              </a:spcAft>
            </a:pPr>
            <a:r>
              <a:rPr sz="1100">
                <a:solidFill>
                  <a:srgbClr val="718096"/>
                </a:solidFill>
                <a:latin typeface="Arial"/>
              </a:rPr>
              <a:t>• Explicaciones conceptuales profundas para expandir tu discurso [6].</a:t>
            </a:r>
          </a:p>
          <a:p>
            <a:pPr>
              <a:spcAft>
                <a:spcPts val="600"/>
              </a:spcAft>
            </a:pPr>
            <a:r>
              <a:rPr sz="1100">
                <a:solidFill>
                  <a:srgbClr val="718096"/>
                </a:solidFill>
                <a:latin typeface="Arial"/>
              </a:rPr>
              <a:t>• Datos estadísticos precisos, porcentajes y cifras difíciles de memorizar [6].</a:t>
            </a:r>
          </a:p>
          <a:p>
            <a:pPr>
              <a:spcAft>
                <a:spcPts val="600"/>
              </a:spcAft>
            </a:pPr>
            <a:r>
              <a:rPr sz="1100">
                <a:solidFill>
                  <a:srgbClr val="718096"/>
                </a:solidFill>
                <a:latin typeface="Arial"/>
              </a:rPr>
              <a:t>• Ejemplos prácticos y anécdotas específicas [6].</a:t>
            </a:r>
          </a:p>
          <a:p>
            <a:pPr>
              <a:spcAft>
                <a:spcPts val="600"/>
              </a:spcAft>
            </a:pPr>
            <a:r>
              <a:rPr sz="1100">
                <a:solidFill>
                  <a:srgbClr val="718096"/>
                </a:solidFill>
                <a:latin typeface="Arial"/>
              </a:rPr>
              <a:t>• Preguntas dirigidas al público y recordatorios de ritmo [6].</a:t>
            </a:r>
          </a:p>
        </p:txBody>
      </p:sp>
      <p:sp>
        <p:nvSpPr>
          <p:cNvPr id="7" name="Rectangle 6"/>
          <p:cNvSpPr/>
          <p:nvPr/>
        </p:nvSpPr>
        <p:spPr>
          <a:xfrm>
            <a:off x="4389120" y="1645920"/>
            <a:ext cx="3383280" cy="762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Ventajas Clave</a:t>
            </a:r>
          </a:p>
          <a:p>
            <a:pPr>
              <a:spcAft>
                <a:spcPts val="600"/>
              </a:spcAft>
            </a:pPr>
            <a:r>
              <a:rPr sz="1100">
                <a:solidFill>
                  <a:srgbClr val="718096"/>
                </a:solidFill>
                <a:latin typeface="Arial"/>
              </a:rPr>
              <a:t>• Reduce la presión mental de tener que memorizarlo todo [6].</a:t>
            </a:r>
          </a:p>
          <a:p>
            <a:pPr>
              <a:spcAft>
                <a:spcPts val="600"/>
              </a:spcAft>
            </a:pPr>
            <a:r>
              <a:rPr sz="1100">
                <a:solidFill>
                  <a:srgbClr val="718096"/>
                </a:solidFill>
                <a:latin typeface="Arial"/>
              </a:rPr>
              <a:t>• Evita la saturación visual en tus diapositivas [5].</a:t>
            </a:r>
          </a:p>
          <a:p>
            <a:pPr>
              <a:spcAft>
                <a:spcPts val="600"/>
              </a:spcAft>
            </a:pPr>
            <a:r>
              <a:rPr sz="1100">
                <a:solidFill>
                  <a:srgbClr val="718096"/>
                </a:solidFill>
                <a:latin typeface="Arial"/>
              </a:rPr>
              <a:t>• Brinda estructura: te permite planificar exactamente qué decir en cada momento de la presentación.</a:t>
            </a:r>
          </a:p>
        </p:txBody>
      </p:sp>
      <p:sp>
        <p:nvSpPr>
          <p:cNvPr id="9" name="Rectangle 8"/>
          <p:cNvSpPr/>
          <p:nvPr/>
        </p:nvSpPr>
        <p:spPr>
          <a:xfrm>
            <a:off x="8046720" y="1645920"/>
            <a:ext cx="3383280" cy="76200"/>
          </a:xfrm>
          <a:prstGeom prst="rect">
            <a:avLst/>
          </a:prstGeom>
          <a:solidFill>
            <a:srgbClr val="1F2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Notas del Presentador: Ruta y Ejercicio Práctico</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Paso 1: Área Rápida</a:t>
            </a:r>
          </a:p>
          <a:p>
            <a:pPr>
              <a:spcAft>
                <a:spcPts val="600"/>
              </a:spcAft>
            </a:pPr>
            <a:r>
              <a:rPr sz="1100">
                <a:solidFill>
                  <a:srgbClr val="718096"/>
                </a:solidFill>
                <a:latin typeface="Arial"/>
              </a:rPr>
              <a:t>1. En la vista normal, busca el botón 'Notas' en la barra inferior de PowerPoint.</a:t>
            </a:r>
          </a:p>
          <a:p>
            <a:pPr>
              <a:spcAft>
                <a:spcPts val="600"/>
              </a:spcAft>
            </a:pPr>
            <a:r>
              <a:rPr sz="1100">
                <a:solidFill>
                  <a:srgbClr val="718096"/>
                </a:solidFill>
                <a:latin typeface="Arial"/>
              </a:rPr>
              <a:t>2. Esto abrirá un panel desplegable debajo de la diapositiva actual.</a:t>
            </a:r>
          </a:p>
          <a:p>
            <a:pPr>
              <a:spcAft>
                <a:spcPts val="600"/>
              </a:spcAft>
            </a:pPr>
            <a:r>
              <a:rPr sz="1100">
                <a:solidFill>
                  <a:srgbClr val="718096"/>
                </a:solidFill>
                <a:latin typeface="Arial"/>
              </a:rPr>
              <a:t>3. Escribe directamente tus recordatorios e información de apoyo en esta caja.</a:t>
            </a:r>
          </a:p>
        </p:txBody>
      </p:sp>
      <p:sp>
        <p:nvSpPr>
          <p:cNvPr id="5" name="Rounded Rectangle 4"/>
          <p:cNvSpPr/>
          <p:nvPr/>
        </p:nvSpPr>
        <p:spPr>
          <a:xfrm>
            <a:off x="43891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Paso 2: Vista Completa</a:t>
            </a:r>
          </a:p>
          <a:p>
            <a:pPr>
              <a:spcAft>
                <a:spcPts val="600"/>
              </a:spcAft>
            </a:pPr>
            <a:r>
              <a:rPr sz="1100">
                <a:solidFill>
                  <a:srgbClr val="718096"/>
                </a:solidFill>
                <a:latin typeface="Arial"/>
              </a:rPr>
              <a:t>1. Ve a la pestaña superior 'Vista'.</a:t>
            </a:r>
          </a:p>
          <a:p>
            <a:pPr>
              <a:spcAft>
                <a:spcPts val="600"/>
              </a:spcAft>
            </a:pPr>
            <a:r>
              <a:rPr sz="1100">
                <a:solidFill>
                  <a:srgbClr val="718096"/>
                </a:solidFill>
                <a:latin typeface="Arial"/>
              </a:rPr>
              <a:t>2. Haz clic en el botón 'Página de notas' [6].</a:t>
            </a:r>
          </a:p>
          <a:p>
            <a:pPr>
              <a:spcAft>
                <a:spcPts val="600"/>
              </a:spcAft>
            </a:pPr>
            <a:r>
              <a:rPr sz="1100">
                <a:solidFill>
                  <a:srgbClr val="718096"/>
                </a:solidFill>
                <a:latin typeface="Arial"/>
              </a:rPr>
              <a:t>3. Esto te mostrará la diapositiva junto con una página de texto completa, ideal para imprimir o escribir explicaciones muy extensas [6].</a:t>
            </a:r>
          </a:p>
        </p:txBody>
      </p:sp>
      <p:sp>
        <p:nvSpPr>
          <p:cNvPr id="6" name="Rounded Rectangle 5"/>
          <p:cNvSpPr/>
          <p:nvPr/>
        </p:nvSpPr>
        <p:spPr>
          <a:xfrm>
            <a:off x="8046720" y="1645920"/>
            <a:ext cx="3383280" cy="4114800"/>
          </a:xfrm>
          <a:prstGeom prst="roundRect">
            <a:avLst/>
          </a:prstGeom>
          <a:solidFill>
            <a:srgbClr val="EAEDF1"/>
          </a:solidFill>
          <a:ln w="19050">
            <a:solidFill>
              <a:srgbClr val="DC5F24"/>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Paso 3: Actividad Práctica</a:t>
            </a:r>
          </a:p>
          <a:p>
            <a:pPr>
              <a:spcAft>
                <a:spcPts val="600"/>
              </a:spcAft>
            </a:pPr>
            <a:r>
              <a:rPr sz="1100">
                <a:solidFill>
                  <a:srgbClr val="718096"/>
                </a:solidFill>
                <a:latin typeface="Arial"/>
              </a:rPr>
              <a:t>EJERCICIO (10 MINUTOS) [5, 6]:</a:t>
            </a:r>
          </a:p>
          <a:p>
            <a:pPr>
              <a:spcAft>
                <a:spcPts val="600"/>
              </a:spcAft>
            </a:pPr>
            <a:r>
              <a:rPr sz="1100">
                <a:solidFill>
                  <a:srgbClr val="718096"/>
                </a:solidFill>
                <a:latin typeface="Arial"/>
              </a:rPr>
              <a:t>Abre tu proyecto 'Mi empresa o negocio ideal' [11]. Selecciona una diapositiva clave y agrega en sus notas:</a:t>
            </a:r>
          </a:p>
          <a:p>
            <a:pPr>
              <a:spcAft>
                <a:spcPts val="600"/>
              </a:spcAft>
            </a:pPr>
            <a:r>
              <a:rPr sz="1100">
                <a:solidFill>
                  <a:srgbClr val="718096"/>
                </a:solidFill>
                <a:latin typeface="Arial"/>
              </a:rPr>
              <a:t>• Qué debes explicar (el mensaje principal) [6].</a:t>
            </a:r>
          </a:p>
          <a:p>
            <a:pPr>
              <a:spcAft>
                <a:spcPts val="600"/>
              </a:spcAft>
            </a:pPr>
            <a:r>
              <a:rPr sz="1100">
                <a:solidFill>
                  <a:srgbClr val="718096"/>
                </a:solidFill>
                <a:latin typeface="Arial"/>
              </a:rPr>
              <a:t>• Un dato estadístico o técnico adicional [6].</a:t>
            </a:r>
          </a:p>
          <a:p>
            <a:pPr>
              <a:spcAft>
                <a:spcPts val="600"/>
              </a:spcAft>
            </a:pPr>
            <a:r>
              <a:rPr sz="1100">
                <a:solidFill>
                  <a:srgbClr val="718096"/>
                </a:solidFill>
                <a:latin typeface="Arial"/>
              </a:rPr>
              <a:t>• Una pregunta para interactuar con el público [6].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Vista del Presentador y el Entorno de Doble Monitor</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1A202C"/>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FFFFFF"/>
                </a:solidFill>
                <a:latin typeface="Georgia"/>
              </a:rPr>
              <a:t>Monitor 1: Lo que observa el Público</a:t>
            </a:r>
          </a:p>
          <a:p>
            <a:pPr>
              <a:spcAft>
                <a:spcPts val="600"/>
              </a:spcAft>
            </a:pPr>
            <a:r>
              <a:rPr sz="1200">
                <a:solidFill>
                  <a:srgbClr val="FFFFFF"/>
                </a:solidFill>
                <a:latin typeface="Arial"/>
              </a:rPr>
              <a:t>• Pantalla Completa Limpia: El público solo observa la diapositiva proyectada en el proyector, TV o pantalla de videoconferencia [7].</a:t>
            </a:r>
          </a:p>
          <a:p>
            <a:pPr>
              <a:spcAft>
                <a:spcPts val="600"/>
              </a:spcAft>
            </a:pPr>
            <a:r>
              <a:rPr sz="1200">
                <a:solidFill>
                  <a:srgbClr val="FFFFFF"/>
                </a:solidFill>
                <a:latin typeface="Arial"/>
              </a:rPr>
              <a:t>• Sin Distracciones: No ven tu cursor, no ven tus notas de apoyo, no ven la interfaz de Windows ni el reloj de PowerPoint [5, 7].</a:t>
            </a:r>
          </a:p>
          <a:p>
            <a:pPr>
              <a:spcAft>
                <a:spcPts val="600"/>
              </a:spcAft>
            </a:pPr>
            <a:r>
              <a:rPr sz="1200">
                <a:solidFill>
                  <a:srgbClr val="FFFFFF"/>
                </a:solidFill>
                <a:latin typeface="Arial"/>
              </a:rPr>
              <a:t>• Impacto Visual Puro: Mantiene la atención en tus imágenes conceptuales y palabras clave de soporte [3, 5].</a:t>
            </a:r>
          </a:p>
        </p:txBody>
      </p:sp>
      <p:sp>
        <p:nvSpPr>
          <p:cNvPr id="5" name="Rounded Rectangle 4"/>
          <p:cNvSpPr/>
          <p:nvPr/>
        </p:nvSpPr>
        <p:spPr>
          <a:xfrm>
            <a:off x="6217920" y="1645920"/>
            <a:ext cx="5212080" cy="4114800"/>
          </a:xfrm>
          <a:prstGeom prst="roundRect">
            <a:avLst/>
          </a:prstGeom>
          <a:solidFill>
            <a:srgbClr val="FFFFFF"/>
          </a:solidFill>
          <a:ln w="19050">
            <a:solidFill>
              <a:srgbClr val="2B4C7E"/>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Monitor 2: Tu Centro de Control Privado</a:t>
            </a:r>
          </a:p>
          <a:p>
            <a:pPr>
              <a:spcAft>
                <a:spcPts val="600"/>
              </a:spcAft>
            </a:pPr>
            <a:r>
              <a:rPr sz="1200">
                <a:solidFill>
                  <a:srgbClr val="718096"/>
                </a:solidFill>
                <a:latin typeface="Arial"/>
              </a:rPr>
              <a:t>• Vista del Presentador Activa: Tu laptop o monitor auxiliar muestra una pantalla interactiva con toda la información técnica de control [6, 7].</a:t>
            </a:r>
          </a:p>
          <a:p>
            <a:pPr>
              <a:spcAft>
                <a:spcPts val="600"/>
              </a:spcAft>
            </a:pPr>
            <a:r>
              <a:rPr sz="1200">
                <a:solidFill>
                  <a:srgbClr val="718096"/>
                </a:solidFill>
                <a:latin typeface="Arial"/>
              </a:rPr>
              <a:t>• Súper Poderes de Exposición: Tienes acceso a tus notas ocultas, temporizador, herramientas de dibujo en vivo y buscador de diapositivas [6, 7].</a:t>
            </a:r>
          </a:p>
          <a:p>
            <a:pPr>
              <a:spcAft>
                <a:spcPts val="600"/>
              </a:spcAft>
            </a:pPr>
            <a:r>
              <a:rPr sz="1200">
                <a:solidFill>
                  <a:srgbClr val="718096"/>
                </a:solidFill>
                <a:latin typeface="Arial"/>
              </a:rPr>
              <a:t>• Confianza Absoluta: Sabes exactamente qué viene después, cuánto tiempo te queda y qué datos clave debes mencionar [6, 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¿Qué Controlamos en la Vista del Presentador?</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1. Diapositiva Actual</a:t>
            </a:r>
          </a:p>
          <a:p>
            <a:pPr>
              <a:spcAft>
                <a:spcPts val="600"/>
              </a:spcAft>
            </a:pPr>
            <a:r>
              <a:rPr sz="1100">
                <a:solidFill>
                  <a:srgbClr val="718096"/>
                </a:solidFill>
                <a:latin typeface="Arial"/>
              </a:rPr>
              <a:t>Muestra la imagen exacta que el público está viendo en pantalla en ese instante [7]. Ayuda a mantener la sincronía sin voltear atrás.</a:t>
            </a:r>
          </a:p>
        </p:txBody>
      </p:sp>
      <p:sp>
        <p:nvSpPr>
          <p:cNvPr id="5" name="Rounded Rectangle 4"/>
          <p:cNvSpPr/>
          <p:nvPr/>
        </p:nvSpPr>
        <p:spPr>
          <a:xfrm>
            <a:off x="6217920" y="1645920"/>
            <a:ext cx="521208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2. Próxima Diapositiva (Anticipación)</a:t>
            </a:r>
          </a:p>
          <a:p>
            <a:pPr>
              <a:spcAft>
                <a:spcPts val="600"/>
              </a:spcAft>
            </a:pPr>
            <a:r>
              <a:rPr sz="1100">
                <a:solidFill>
                  <a:srgbClr val="718096"/>
                </a:solidFill>
                <a:latin typeface="Arial"/>
              </a:rPr>
              <a:t>Muestra en miniatura la diapositiva que viene [7]. Te permite preparar transiciones verbales perfectas antes de hacer clic.</a:t>
            </a:r>
          </a:p>
        </p:txBody>
      </p:sp>
      <p:sp>
        <p:nvSpPr>
          <p:cNvPr id="6" name="Rounded Rectangle 5"/>
          <p:cNvSpPr/>
          <p:nvPr/>
        </p:nvSpPr>
        <p:spPr>
          <a:xfrm>
            <a:off x="731520" y="3840480"/>
            <a:ext cx="521208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3. Notas de Apoyo Interactivas</a:t>
            </a:r>
          </a:p>
          <a:p>
            <a:pPr>
              <a:spcAft>
                <a:spcPts val="600"/>
              </a:spcAft>
            </a:pPr>
            <a:r>
              <a:rPr sz="1100">
                <a:solidFill>
                  <a:srgbClr val="718096"/>
                </a:solidFill>
                <a:latin typeface="Arial"/>
              </a:rPr>
              <a:t>Muestra el texto que escribiste [6, 7]. Cuenta con controles rápidos para agrandar o achicar el tamaño de la letra según tu comodidad visual.</a:t>
            </a:r>
          </a:p>
        </p:txBody>
      </p:sp>
      <p:sp>
        <p:nvSpPr>
          <p:cNvPr id="7" name="Rounded Rectangle 6"/>
          <p:cNvSpPr/>
          <p:nvPr/>
        </p:nvSpPr>
        <p:spPr>
          <a:xfrm>
            <a:off x="6217920" y="3840480"/>
            <a:ext cx="521208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4. Cronómetro y Controles de Navegación</a:t>
            </a:r>
          </a:p>
          <a:p>
            <a:pPr>
              <a:spcAft>
                <a:spcPts val="600"/>
              </a:spcAft>
            </a:pPr>
            <a:r>
              <a:rPr sz="1100">
                <a:solidFill>
                  <a:srgbClr val="718096"/>
                </a:solidFill>
                <a:latin typeface="Arial"/>
              </a:rPr>
              <a:t>Un reloj gigante con el tiempo transcurrido de tu exposición y herramientas para adelantar, retroceder o saltar diapositivas en vivo [7].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Herramientas Técnicas de Exposición en Vivo</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Lápiz de Dibujo</a:t>
            </a:r>
          </a:p>
          <a:p>
            <a:pPr>
              <a:spcAft>
                <a:spcPts val="600"/>
              </a:spcAft>
            </a:pPr>
            <a:r>
              <a:rPr sz="1100">
                <a:solidFill>
                  <a:srgbClr val="718096"/>
                </a:solidFill>
                <a:latin typeface="Arial"/>
              </a:rPr>
              <a:t>• Permite dibujar o escribir libremente sobre las diapositivas en pantalla completa [7].</a:t>
            </a:r>
          </a:p>
          <a:p>
            <a:pPr>
              <a:spcAft>
                <a:spcPts val="600"/>
              </a:spcAft>
            </a:pPr>
            <a:r>
              <a:rPr sz="1100">
                <a:solidFill>
                  <a:srgbClr val="718096"/>
                </a:solidFill>
                <a:latin typeface="Arial"/>
              </a:rPr>
              <a:t>• Ideal para trazar flechas de conexión, encerrar en un círculo conceptos o escribir fórmulas rápidas en vivo.</a:t>
            </a:r>
          </a:p>
        </p:txBody>
      </p:sp>
      <p:sp>
        <p:nvSpPr>
          <p:cNvPr id="5" name="Rectangle 4"/>
          <p:cNvSpPr/>
          <p:nvPr/>
        </p:nvSpPr>
        <p:spPr>
          <a:xfrm>
            <a:off x="731520" y="5684520"/>
            <a:ext cx="2468880" cy="7620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4747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Resaltador</a:t>
            </a:r>
          </a:p>
          <a:p>
            <a:pPr>
              <a:spcAft>
                <a:spcPts val="600"/>
              </a:spcAft>
            </a:pPr>
            <a:r>
              <a:rPr sz="1100">
                <a:solidFill>
                  <a:srgbClr val="718096"/>
                </a:solidFill>
                <a:latin typeface="Arial"/>
              </a:rPr>
              <a:t>• Aplica un trazo translúcido de color amarillo brillante [7].</a:t>
            </a:r>
          </a:p>
          <a:p>
            <a:pPr>
              <a:spcAft>
                <a:spcPts val="600"/>
              </a:spcAft>
            </a:pPr>
            <a:r>
              <a:rPr sz="1100">
                <a:solidFill>
                  <a:srgbClr val="718096"/>
                </a:solidFill>
                <a:latin typeface="Arial"/>
              </a:rPr>
              <a:t>• Sirve para dar énfasis a palabras clave de texto, cifras estadísticas importantes o secciones de tablas sin tapar el contenido básico.</a:t>
            </a:r>
          </a:p>
        </p:txBody>
      </p:sp>
      <p:sp>
        <p:nvSpPr>
          <p:cNvPr id="7" name="Rectangle 6"/>
          <p:cNvSpPr/>
          <p:nvPr/>
        </p:nvSpPr>
        <p:spPr>
          <a:xfrm>
            <a:off x="3474720" y="5684520"/>
            <a:ext cx="2468880" cy="762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Borrador</a:t>
            </a:r>
          </a:p>
          <a:p>
            <a:pPr>
              <a:spcAft>
                <a:spcPts val="600"/>
              </a:spcAft>
            </a:pPr>
            <a:r>
              <a:rPr sz="1100">
                <a:solidFill>
                  <a:srgbClr val="718096"/>
                </a:solidFill>
                <a:latin typeface="Arial"/>
              </a:rPr>
              <a:t>• Limpia tus anotaciones de forma manual trazo por trazo, o borra toda la tinta de la diapositiva con un solo clic [7].</a:t>
            </a:r>
          </a:p>
          <a:p>
            <a:pPr>
              <a:spcAft>
                <a:spcPts val="600"/>
              </a:spcAft>
            </a:pPr>
            <a:r>
              <a:rPr sz="1100">
                <a:solidFill>
                  <a:srgbClr val="718096"/>
                </a:solidFill>
                <a:latin typeface="Arial"/>
              </a:rPr>
              <a:t>• Mantiene la diapositiva limpia después de dinámicas interactivas.</a:t>
            </a:r>
          </a:p>
        </p:txBody>
      </p:sp>
      <p:sp>
        <p:nvSpPr>
          <p:cNvPr id="9" name="Rectangle 8"/>
          <p:cNvSpPr/>
          <p:nvPr/>
        </p:nvSpPr>
        <p:spPr>
          <a:xfrm>
            <a:off x="6217920" y="5684520"/>
            <a:ext cx="2468880" cy="76200"/>
          </a:xfrm>
          <a:prstGeom prst="rect">
            <a:avLst/>
          </a:prstGeom>
          <a:solidFill>
            <a:srgbClr val="1F2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961120" y="1645920"/>
            <a:ext cx="24688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500" b="1">
                <a:solidFill>
                  <a:srgbClr val="1F242E"/>
                </a:solidFill>
                <a:latin typeface="Georgia"/>
              </a:rPr>
              <a:t>Zoom de Diapositiva</a:t>
            </a:r>
          </a:p>
          <a:p>
            <a:pPr>
              <a:spcAft>
                <a:spcPts val="600"/>
              </a:spcAft>
            </a:pPr>
            <a:r>
              <a:rPr sz="1100">
                <a:solidFill>
                  <a:srgbClr val="718096"/>
                </a:solidFill>
                <a:latin typeface="Arial"/>
              </a:rPr>
              <a:t>• Amplía secciones específicas de tu diapositiva [7].</a:t>
            </a:r>
          </a:p>
          <a:p>
            <a:pPr>
              <a:spcAft>
                <a:spcPts val="600"/>
              </a:spcAft>
            </a:pPr>
            <a:r>
              <a:rPr sz="1100">
                <a:solidFill>
                  <a:srgbClr val="718096"/>
                </a:solidFill>
                <a:latin typeface="Arial"/>
              </a:rPr>
              <a:t>• Excelente para enfocar la atención del público en celdas individuales de tablas densas, gráficos detallados o partes de una imagen compleja.</a:t>
            </a:r>
          </a:p>
        </p:txBody>
      </p:sp>
      <p:sp>
        <p:nvSpPr>
          <p:cNvPr id="11" name="Rectangle 10"/>
          <p:cNvSpPr/>
          <p:nvPr/>
        </p:nvSpPr>
        <p:spPr>
          <a:xfrm>
            <a:off x="8961120" y="5684520"/>
            <a:ext cx="2468880" cy="76200"/>
          </a:xfrm>
          <a:prstGeom prst="rect">
            <a:avLst/>
          </a:prstGeom>
          <a:solidFill>
            <a:srgbClr val="71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Puntero Láser y Control de Enfoque con Pantallas</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Puntero Láser Digital</a:t>
            </a:r>
          </a:p>
          <a:p>
            <a:pPr>
              <a:spcAft>
                <a:spcPts val="600"/>
              </a:spcAft>
            </a:pPr>
            <a:r>
              <a:rPr sz="1200">
                <a:solidFill>
                  <a:srgbClr val="718096"/>
                </a:solidFill>
                <a:latin typeface="Arial"/>
              </a:rPr>
              <a:t>• Simula un puntero láser físico en la pantalla usando tu cursor de mouse en la Vista del Presentador o mediante atajos [7].</a:t>
            </a:r>
          </a:p>
          <a:p>
            <a:pPr>
              <a:spcAft>
                <a:spcPts val="600"/>
              </a:spcAft>
            </a:pPr>
            <a:r>
              <a:rPr sz="1200">
                <a:solidFill>
                  <a:srgbClr val="718096"/>
                </a:solidFill>
                <a:latin typeface="Arial"/>
              </a:rPr>
              <a:t>• Te permite guiar la mirada del público con precisión sobre elementos específicos de la diapositiva sin tener que voltear físicamente a señalar la pantalla [7].</a:t>
            </a:r>
          </a:p>
          <a:p>
            <a:pPr>
              <a:spcAft>
                <a:spcPts val="600"/>
              </a:spcAft>
            </a:pPr>
            <a:r>
              <a:rPr sz="1200">
                <a:solidFill>
                  <a:srgbClr val="718096"/>
                </a:solidFill>
                <a:latin typeface="Arial"/>
              </a:rPr>
              <a:t>• Beneficio: Te mantiene mirando siempre de frente a la audiencia, reforzando el contacto visual y tu dominio escénico [10].</a:t>
            </a:r>
          </a:p>
        </p:txBody>
      </p:sp>
      <p:sp>
        <p:nvSpPr>
          <p:cNvPr id="5" name="Rounded Rectangle 4"/>
          <p:cNvSpPr/>
          <p:nvPr/>
        </p:nvSpPr>
        <p:spPr>
          <a:xfrm>
            <a:off x="62179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Pantalla Negra (B) y Blanca (W)</a:t>
            </a:r>
          </a:p>
          <a:p>
            <a:pPr>
              <a:spcAft>
                <a:spcPts val="600"/>
              </a:spcAft>
            </a:pPr>
            <a:r>
              <a:rPr sz="1200">
                <a:solidFill>
                  <a:srgbClr val="718096"/>
                </a:solidFill>
                <a:latin typeface="Arial"/>
              </a:rPr>
              <a:t>• Apagón temporal: Permite ocultar instantáneamente el contenido de la diapositiva [7, 8].</a:t>
            </a:r>
          </a:p>
          <a:p>
            <a:pPr>
              <a:spcAft>
                <a:spcPts val="600"/>
              </a:spcAft>
            </a:pPr>
            <a:r>
              <a:rPr sz="1200">
                <a:solidFill>
                  <a:srgbClr val="718096"/>
                </a:solidFill>
                <a:latin typeface="Arial"/>
              </a:rPr>
              <a:t>• Pantalla Negra (Tecla B): Pone la proyección en negro absoluto, simulando que el proyector se apagó [7, 8].</a:t>
            </a:r>
          </a:p>
          <a:p>
            <a:pPr>
              <a:spcAft>
                <a:spcPts val="600"/>
              </a:spcAft>
            </a:pPr>
            <a:r>
              <a:rPr sz="1200">
                <a:solidFill>
                  <a:srgbClr val="718096"/>
                </a:solidFill>
                <a:latin typeface="Arial"/>
              </a:rPr>
              <a:t>• Pantalla Blanca (Tecla W): Pone la proyección en blanco luminoso [7, 8].</a:t>
            </a:r>
          </a:p>
          <a:p>
            <a:pPr>
              <a:spcAft>
                <a:spcPts val="600"/>
              </a:spcAft>
            </a:pPr>
            <a:r>
              <a:rPr sz="1200">
                <a:solidFill>
                  <a:srgbClr val="718096"/>
                </a:solidFill>
                <a:latin typeface="Arial"/>
              </a:rPr>
              <a:t>• Utilidad estratégica: Al presionar 'B' o 'W', toda la atención se desvía de la pantalla y regresa con fuerza a tu voz. Ideal para explicaciones complejas o responder preguntas [7].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Atajos de Teclado Esenciales y Ejercicio Práctico 2</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645920"/>
          <a:ext cx="5212080" cy="41148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457200">
                <a:tc>
                  <a:txBody>
                    <a:bodyPr/>
                    <a:lstStyle/>
                    <a:p>
                      <a:r>
                        <a:rPr sz="1300" b="1">
                          <a:solidFill>
                            <a:srgbClr val="FFFFFF"/>
                          </a:solidFill>
                          <a:latin typeface="Georgia"/>
                        </a:rPr>
                        <a:t>Atajo</a:t>
                      </a:r>
                    </a:p>
                  </a:txBody>
                  <a:tcPr>
                    <a:solidFill>
                      <a:srgbClr val="2B4C7E"/>
                    </a:solidFill>
                  </a:tcPr>
                </a:tc>
                <a:tc>
                  <a:txBody>
                    <a:bodyPr/>
                    <a:lstStyle/>
                    <a:p>
                      <a:r>
                        <a:rPr sz="1300" b="1">
                          <a:solidFill>
                            <a:srgbClr val="FFFFFF"/>
                          </a:solidFill>
                          <a:latin typeface="Georgia"/>
                        </a:rPr>
                        <a:t>Acción Realizada en PowerPoint</a:t>
                      </a:r>
                    </a:p>
                  </a:txBody>
                  <a:tcPr>
                    <a:solidFill>
                      <a:srgbClr val="2B4C7E"/>
                    </a:solidFill>
                  </a:tcPr>
                </a:tc>
                <a:extLst>
                  <a:ext uri="{0D108BD9-81ED-4DB2-BD59-A6C34878D82A}">
                    <a16:rowId xmlns:a16="http://schemas.microsoft.com/office/drawing/2014/main" val="10000"/>
                  </a:ext>
                </a:extLst>
              </a:tr>
              <a:tr h="457200">
                <a:tc>
                  <a:txBody>
                    <a:bodyPr/>
                    <a:lstStyle/>
                    <a:p>
                      <a:r>
                        <a:rPr sz="1100">
                          <a:solidFill>
                            <a:srgbClr val="1F242E"/>
                          </a:solidFill>
                          <a:latin typeface="Arial"/>
                        </a:rPr>
                        <a:t>F5</a:t>
                      </a:r>
                    </a:p>
                  </a:txBody>
                  <a:tcPr>
                    <a:solidFill>
                      <a:srgbClr val="FFFFFF"/>
                    </a:solidFill>
                  </a:tcPr>
                </a:tc>
                <a:tc>
                  <a:txBody>
                    <a:bodyPr/>
                    <a:lstStyle/>
                    <a:p>
                      <a:r>
                        <a:rPr sz="1100">
                          <a:solidFill>
                            <a:srgbClr val="1F242E"/>
                          </a:solidFill>
                          <a:latin typeface="Arial"/>
                        </a:rPr>
                        <a:t>Iniciar la presentación desde la primera diapositiva [8].</a:t>
                      </a:r>
                    </a:p>
                  </a:txBody>
                  <a:tcPr>
                    <a:solidFill>
                      <a:srgbClr val="FFFFFF"/>
                    </a:solidFill>
                  </a:tcPr>
                </a:tc>
                <a:extLst>
                  <a:ext uri="{0D108BD9-81ED-4DB2-BD59-A6C34878D82A}">
                    <a16:rowId xmlns:a16="http://schemas.microsoft.com/office/drawing/2014/main" val="10001"/>
                  </a:ext>
                </a:extLst>
              </a:tr>
              <a:tr h="457200">
                <a:tc>
                  <a:txBody>
                    <a:bodyPr/>
                    <a:lstStyle/>
                    <a:p>
                      <a:r>
                        <a:rPr sz="1100">
                          <a:solidFill>
                            <a:srgbClr val="1F242E"/>
                          </a:solidFill>
                          <a:latin typeface="Arial"/>
                        </a:rPr>
                        <a:t>Shift + F5</a:t>
                      </a:r>
                    </a:p>
                  </a:txBody>
                  <a:tcPr>
                    <a:solidFill>
                      <a:srgbClr val="EEF0F3"/>
                    </a:solidFill>
                  </a:tcPr>
                </a:tc>
                <a:tc>
                  <a:txBody>
                    <a:bodyPr/>
                    <a:lstStyle/>
                    <a:p>
                      <a:r>
                        <a:rPr sz="1100">
                          <a:solidFill>
                            <a:srgbClr val="1F242E"/>
                          </a:solidFill>
                          <a:latin typeface="Arial"/>
                        </a:rPr>
                        <a:t>Iniciar la presentación desde la diapositiva actual [8].</a:t>
                      </a:r>
                    </a:p>
                  </a:txBody>
                  <a:tcPr>
                    <a:solidFill>
                      <a:srgbClr val="EEF0F3"/>
                    </a:solidFill>
                  </a:tcPr>
                </a:tc>
                <a:extLst>
                  <a:ext uri="{0D108BD9-81ED-4DB2-BD59-A6C34878D82A}">
                    <a16:rowId xmlns:a16="http://schemas.microsoft.com/office/drawing/2014/main" val="10002"/>
                  </a:ext>
                </a:extLst>
              </a:tr>
              <a:tr h="457200">
                <a:tc>
                  <a:txBody>
                    <a:bodyPr/>
                    <a:lstStyle/>
                    <a:p>
                      <a:r>
                        <a:rPr sz="1100">
                          <a:solidFill>
                            <a:srgbClr val="1F242E"/>
                          </a:solidFill>
                          <a:latin typeface="Arial"/>
                        </a:rPr>
                        <a:t>Tecla B</a:t>
                      </a:r>
                    </a:p>
                  </a:txBody>
                  <a:tcPr>
                    <a:solidFill>
                      <a:srgbClr val="FFFFFF"/>
                    </a:solidFill>
                  </a:tcPr>
                </a:tc>
                <a:tc>
                  <a:txBody>
                    <a:bodyPr/>
                    <a:lstStyle/>
                    <a:p>
                      <a:r>
                        <a:rPr sz="1100">
                          <a:solidFill>
                            <a:srgbClr val="1F242E"/>
                          </a:solidFill>
                          <a:latin typeface="Arial"/>
                        </a:rPr>
                        <a:t>Poner la pantalla en negro (B = Black) [8].</a:t>
                      </a:r>
                    </a:p>
                  </a:txBody>
                  <a:tcPr>
                    <a:solidFill>
                      <a:srgbClr val="FFFFFF"/>
                    </a:solidFill>
                  </a:tcPr>
                </a:tc>
                <a:extLst>
                  <a:ext uri="{0D108BD9-81ED-4DB2-BD59-A6C34878D82A}">
                    <a16:rowId xmlns:a16="http://schemas.microsoft.com/office/drawing/2014/main" val="10003"/>
                  </a:ext>
                </a:extLst>
              </a:tr>
              <a:tr h="457200">
                <a:tc>
                  <a:txBody>
                    <a:bodyPr/>
                    <a:lstStyle/>
                    <a:p>
                      <a:r>
                        <a:rPr sz="1100">
                          <a:solidFill>
                            <a:srgbClr val="1F242E"/>
                          </a:solidFill>
                          <a:latin typeface="Arial"/>
                        </a:rPr>
                        <a:t>Tecla W</a:t>
                      </a:r>
                    </a:p>
                  </a:txBody>
                  <a:tcPr>
                    <a:solidFill>
                      <a:srgbClr val="EEF0F3"/>
                    </a:solidFill>
                  </a:tcPr>
                </a:tc>
                <a:tc>
                  <a:txBody>
                    <a:bodyPr/>
                    <a:lstStyle/>
                    <a:p>
                      <a:r>
                        <a:rPr sz="1100">
                          <a:solidFill>
                            <a:srgbClr val="1F242E"/>
                          </a:solidFill>
                          <a:latin typeface="Arial"/>
                        </a:rPr>
                        <a:t>Poner la pantalla en blanco (W = White) [8].</a:t>
                      </a:r>
                    </a:p>
                  </a:txBody>
                  <a:tcPr>
                    <a:solidFill>
                      <a:srgbClr val="EEF0F3"/>
                    </a:solidFill>
                  </a:tcPr>
                </a:tc>
                <a:extLst>
                  <a:ext uri="{0D108BD9-81ED-4DB2-BD59-A6C34878D82A}">
                    <a16:rowId xmlns:a16="http://schemas.microsoft.com/office/drawing/2014/main" val="10004"/>
                  </a:ext>
                </a:extLst>
              </a:tr>
              <a:tr h="457200">
                <a:tc>
                  <a:txBody>
                    <a:bodyPr/>
                    <a:lstStyle/>
                    <a:p>
                      <a:r>
                        <a:rPr sz="1100">
                          <a:solidFill>
                            <a:srgbClr val="1F242E"/>
                          </a:solidFill>
                          <a:latin typeface="Arial"/>
                        </a:rPr>
                        <a:t>Esc</a:t>
                      </a:r>
                    </a:p>
                  </a:txBody>
                  <a:tcPr>
                    <a:solidFill>
                      <a:srgbClr val="FFFFFF"/>
                    </a:solidFill>
                  </a:tcPr>
                </a:tc>
                <a:tc>
                  <a:txBody>
                    <a:bodyPr/>
                    <a:lstStyle/>
                    <a:p>
                      <a:r>
                        <a:rPr sz="1100">
                          <a:solidFill>
                            <a:srgbClr val="1F242E"/>
                          </a:solidFill>
                          <a:latin typeface="Arial"/>
                        </a:rPr>
                        <a:t>Salir inmediatamente del modo de presentación [8].</a:t>
                      </a:r>
                    </a:p>
                  </a:txBody>
                  <a:tcPr>
                    <a:solidFill>
                      <a:srgbClr val="FFFFFF"/>
                    </a:solidFill>
                  </a:tcPr>
                </a:tc>
                <a:extLst>
                  <a:ext uri="{0D108BD9-81ED-4DB2-BD59-A6C34878D82A}">
                    <a16:rowId xmlns:a16="http://schemas.microsoft.com/office/drawing/2014/main" val="10005"/>
                  </a:ext>
                </a:extLst>
              </a:tr>
              <a:tr h="457200">
                <a:tc>
                  <a:txBody>
                    <a:bodyPr/>
                    <a:lstStyle/>
                    <a:p>
                      <a:r>
                        <a:rPr sz="1100">
                          <a:solidFill>
                            <a:srgbClr val="1F242E"/>
                          </a:solidFill>
                          <a:latin typeface="Arial"/>
                        </a:rPr>
                        <a:t>Ctrl + L</a:t>
                      </a:r>
                    </a:p>
                  </a:txBody>
                  <a:tcPr>
                    <a:solidFill>
                      <a:srgbClr val="EEF0F3"/>
                    </a:solidFill>
                  </a:tcPr>
                </a:tc>
                <a:tc>
                  <a:txBody>
                    <a:bodyPr/>
                    <a:lstStyle/>
                    <a:p>
                      <a:r>
                        <a:rPr sz="1100">
                          <a:solidFill>
                            <a:srgbClr val="1F242E"/>
                          </a:solidFill>
                          <a:latin typeface="Arial"/>
                        </a:rPr>
                        <a:t>Activar puntero láser dinámico en modo presentación.</a:t>
                      </a:r>
                    </a:p>
                  </a:txBody>
                  <a:tcPr>
                    <a:solidFill>
                      <a:srgbClr val="EEF0F3"/>
                    </a:solidFill>
                  </a:tcPr>
                </a:tc>
                <a:extLst>
                  <a:ext uri="{0D108BD9-81ED-4DB2-BD59-A6C34878D82A}">
                    <a16:rowId xmlns:a16="http://schemas.microsoft.com/office/drawing/2014/main" val="10006"/>
                  </a:ext>
                </a:extLst>
              </a:tr>
              <a:tr h="457200">
                <a:tc>
                  <a:txBody>
                    <a:bodyPr/>
                    <a:lstStyle/>
                    <a:p>
                      <a:r>
                        <a:rPr sz="1100">
                          <a:solidFill>
                            <a:srgbClr val="1F242E"/>
                          </a:solidFill>
                          <a:latin typeface="Arial"/>
                        </a:rPr>
                        <a:t>Ctrl + P</a:t>
                      </a:r>
                    </a:p>
                  </a:txBody>
                  <a:tcPr>
                    <a:solidFill>
                      <a:srgbClr val="FFFFFF"/>
                    </a:solidFill>
                  </a:tcPr>
                </a:tc>
                <a:tc>
                  <a:txBody>
                    <a:bodyPr/>
                    <a:lstStyle/>
                    <a:p>
                      <a:r>
                        <a:rPr sz="1100">
                          <a:solidFill>
                            <a:srgbClr val="1F242E"/>
                          </a:solidFill>
                          <a:latin typeface="Arial"/>
                        </a:rPr>
                        <a:t>Activar herramienta lápiz de anotación.</a:t>
                      </a:r>
                    </a:p>
                  </a:txBody>
                  <a:tcPr>
                    <a:solidFill>
                      <a:srgbClr val="FFFFFF"/>
                    </a:solidFill>
                  </a:tcPr>
                </a:tc>
                <a:extLst>
                  <a:ext uri="{0D108BD9-81ED-4DB2-BD59-A6C34878D82A}">
                    <a16:rowId xmlns:a16="http://schemas.microsoft.com/office/drawing/2014/main" val="10007"/>
                  </a:ext>
                </a:extLst>
              </a:tr>
              <a:tr h="457200">
                <a:tc>
                  <a:txBody>
                    <a:bodyPr/>
                    <a:lstStyle/>
                    <a:p>
                      <a:r>
                        <a:rPr sz="1100">
                          <a:solidFill>
                            <a:srgbClr val="1F242E"/>
                          </a:solidFill>
                          <a:latin typeface="Arial"/>
                        </a:rPr>
                        <a:t>Ctrl + M</a:t>
                      </a:r>
                    </a:p>
                  </a:txBody>
                  <a:tcPr>
                    <a:solidFill>
                      <a:srgbClr val="EEF0F3"/>
                    </a:solidFill>
                  </a:tcPr>
                </a:tc>
                <a:tc>
                  <a:txBody>
                    <a:bodyPr/>
                    <a:lstStyle/>
                    <a:p>
                      <a:r>
                        <a:rPr sz="1100">
                          <a:solidFill>
                            <a:srgbClr val="1F242E"/>
                          </a:solidFill>
                          <a:latin typeface="Arial"/>
                        </a:rPr>
                        <a:t>Activar herramienta resaltador.</a:t>
                      </a:r>
                    </a:p>
                  </a:txBody>
                  <a:tcPr>
                    <a:solidFill>
                      <a:srgbClr val="EEF0F3"/>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6217920" y="1645920"/>
            <a:ext cx="5212080" cy="4114800"/>
          </a:xfrm>
          <a:prstGeom prst="roundRect">
            <a:avLst/>
          </a:prstGeom>
          <a:solidFill>
            <a:srgbClr val="EAEDF1"/>
          </a:solidFill>
          <a:ln w="19050">
            <a:solidFill>
              <a:srgbClr val="DC5F24"/>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Actividad Práctica 2: Dominio Escénico</a:t>
            </a:r>
          </a:p>
          <a:p>
            <a:pPr>
              <a:spcAft>
                <a:spcPts val="600"/>
              </a:spcAft>
            </a:pPr>
            <a:r>
              <a:rPr sz="1100">
                <a:solidFill>
                  <a:srgbClr val="718096"/>
                </a:solidFill>
                <a:latin typeface="Arial"/>
              </a:rPr>
              <a:t>PRÁCTICA INDIVIDUAL (5 MINUTOS) [8]:</a:t>
            </a:r>
          </a:p>
          <a:p>
            <a:pPr>
              <a:spcAft>
                <a:spcPts val="600"/>
              </a:spcAft>
            </a:pPr>
            <a:r>
              <a:rPr sz="1100">
                <a:solidFill>
                  <a:srgbClr val="718096"/>
                </a:solidFill>
                <a:latin typeface="Arial"/>
              </a:rPr>
              <a:t>1. Abre tu presentación en PowerPoint [8].</a:t>
            </a:r>
          </a:p>
          <a:p>
            <a:pPr>
              <a:spcAft>
                <a:spcPts val="600"/>
              </a:spcAft>
            </a:pPr>
            <a:r>
              <a:rPr sz="1100">
                <a:solidFill>
                  <a:srgbClr val="718096"/>
                </a:solidFill>
                <a:latin typeface="Arial"/>
              </a:rPr>
              <a:t>2. Presiona F5 para iniciar desde el principio [8].</a:t>
            </a:r>
          </a:p>
          <a:p>
            <a:pPr>
              <a:spcAft>
                <a:spcPts val="600"/>
              </a:spcAft>
            </a:pPr>
            <a:r>
              <a:rPr sz="1100">
                <a:solidFill>
                  <a:srgbClr val="718096"/>
                </a:solidFill>
                <a:latin typeface="Arial"/>
              </a:rPr>
              <a:t>3. Usa el puntero láser para guiar un elemento clave [8].</a:t>
            </a:r>
          </a:p>
          <a:p>
            <a:pPr>
              <a:spcAft>
                <a:spcPts val="600"/>
              </a:spcAft>
            </a:pPr>
            <a:r>
              <a:rPr sz="1100">
                <a:solidFill>
                  <a:srgbClr val="718096"/>
                </a:solidFill>
                <a:latin typeface="Arial"/>
              </a:rPr>
              <a:t>4. Usa el Resaltador para marcar un título o cifra [8].</a:t>
            </a:r>
          </a:p>
          <a:p>
            <a:pPr>
              <a:spcAft>
                <a:spcPts val="600"/>
              </a:spcAft>
            </a:pPr>
            <a:r>
              <a:rPr sz="1100">
                <a:solidFill>
                  <a:srgbClr val="718096"/>
                </a:solidFill>
                <a:latin typeface="Arial"/>
              </a:rPr>
              <a:t>5. Presiona la tecla B para poner la pantalla negra y practica hablarle al público directamente [8].</a:t>
            </a:r>
          </a:p>
          <a:p>
            <a:pPr>
              <a:spcAft>
                <a:spcPts val="600"/>
              </a:spcAft>
            </a:pPr>
            <a:r>
              <a:rPr sz="1100">
                <a:solidFill>
                  <a:srgbClr val="718096"/>
                </a:solidFill>
                <a:latin typeface="Arial"/>
              </a:rPr>
              <a:t>6. Presiona B de nuevo para regresar a la diapositiva [8].</a:t>
            </a:r>
          </a:p>
          <a:p>
            <a:pPr>
              <a:spcAft>
                <a:spcPts val="600"/>
              </a:spcAft>
            </a:pPr>
            <a:r>
              <a:rPr sz="1100">
                <a:solidFill>
                  <a:srgbClr val="718096"/>
                </a:solidFill>
                <a:latin typeface="Arial"/>
              </a:rPr>
              <a:t>7. Avanza diapositivas y sal de la presentación con Esc [8].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Configuración Avanzada de la Presentación</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¿Cómo Acceder?</a:t>
            </a:r>
          </a:p>
          <a:p>
            <a:pPr>
              <a:spcAft>
                <a:spcPts val="600"/>
              </a:spcAft>
            </a:pPr>
            <a:r>
              <a:rPr sz="1100">
                <a:solidFill>
                  <a:srgbClr val="718096"/>
                </a:solidFill>
                <a:latin typeface="Arial"/>
              </a:rPr>
              <a:t>Ruta en PowerPoint:</a:t>
            </a:r>
          </a:p>
          <a:p>
            <a:pPr>
              <a:spcAft>
                <a:spcPts val="600"/>
              </a:spcAft>
            </a:pPr>
            <a:r>
              <a:rPr sz="1100">
                <a:solidFill>
                  <a:srgbClr val="718096"/>
                </a:solidFill>
                <a:latin typeface="Arial"/>
              </a:rPr>
              <a:t>Pestaña superior -&gt; 'Presentación con diapositivas' -&gt; 'Configuración de la presentación con diapositivas' [8-9].</a:t>
            </a:r>
          </a:p>
          <a:p>
            <a:pPr>
              <a:spcAft>
                <a:spcPts val="600"/>
              </a:spcAft>
            </a:pPr>
            <a:r>
              <a:rPr sz="1100">
                <a:solidFill>
                  <a:srgbClr val="718096"/>
                </a:solidFill>
                <a:latin typeface="Arial"/>
              </a:rPr>
              <a:t>Este panel te permite alterar completamente la forma en que se reproduce tu archivo de diapositivas según tus necesidades técnicas [9].</a:t>
            </a:r>
          </a:p>
        </p:txBody>
      </p:sp>
      <p:sp>
        <p:nvSpPr>
          <p:cNvPr id="5" name="Rectangle 4"/>
          <p:cNvSpPr/>
          <p:nvPr/>
        </p:nvSpPr>
        <p:spPr>
          <a:xfrm>
            <a:off x="731520" y="1645920"/>
            <a:ext cx="3383280" cy="7620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Opciones de Tipo</a:t>
            </a:r>
          </a:p>
          <a:p>
            <a:pPr>
              <a:spcAft>
                <a:spcPts val="600"/>
              </a:spcAft>
            </a:pPr>
            <a:r>
              <a:rPr sz="1100">
                <a:solidFill>
                  <a:srgbClr val="718096"/>
                </a:solidFill>
                <a:latin typeface="Arial"/>
              </a:rPr>
              <a:t>• Realizada por un orador (pantalla completa): Modo clásico para exposiciones en vivo [9].</a:t>
            </a:r>
          </a:p>
          <a:p>
            <a:pPr>
              <a:spcAft>
                <a:spcPts val="600"/>
              </a:spcAft>
            </a:pPr>
            <a:r>
              <a:rPr sz="1100">
                <a:solidFill>
                  <a:srgbClr val="718096"/>
                </a:solidFill>
                <a:latin typeface="Arial"/>
              </a:rPr>
              <a:t>• Examinada de forma individual (ventana): Ejecuta la presentación en una ventana estándar de Windows. Ideal para ensayar mientras revisas otros archivos en tu monitor [9].</a:t>
            </a:r>
          </a:p>
          <a:p>
            <a:pPr>
              <a:spcAft>
                <a:spcPts val="600"/>
              </a:spcAft>
            </a:pPr>
            <a:r>
              <a:rPr sz="1100">
                <a:solidFill>
                  <a:srgbClr val="718096"/>
                </a:solidFill>
                <a:latin typeface="Arial"/>
              </a:rPr>
              <a:t>• Examinada en exposición (pantalla completa): Modo automático ideal para kioscos [9].</a:t>
            </a:r>
          </a:p>
        </p:txBody>
      </p:sp>
      <p:sp>
        <p:nvSpPr>
          <p:cNvPr id="7" name="Rectangle 6"/>
          <p:cNvSpPr/>
          <p:nvPr/>
        </p:nvSpPr>
        <p:spPr>
          <a:xfrm>
            <a:off x="4389120" y="1645920"/>
            <a:ext cx="3383280" cy="762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Controles de Reproducción</a:t>
            </a:r>
          </a:p>
          <a:p>
            <a:pPr>
              <a:spcAft>
                <a:spcPts val="600"/>
              </a:spcAft>
            </a:pPr>
            <a:r>
              <a:rPr sz="1100">
                <a:solidFill>
                  <a:srgbClr val="718096"/>
                </a:solidFill>
                <a:latin typeface="Arial"/>
              </a:rPr>
              <a:t>• Repetir continuamente hasta presionar 'Esc': Bucle infinito útil para ferias o paneles publicitarios [9].</a:t>
            </a:r>
          </a:p>
          <a:p>
            <a:pPr>
              <a:spcAft>
                <a:spcPts val="600"/>
              </a:spcAft>
            </a:pPr>
            <a:r>
              <a:rPr sz="1100">
                <a:solidFill>
                  <a:srgbClr val="718096"/>
                </a:solidFill>
                <a:latin typeface="Arial"/>
              </a:rPr>
              <a:t>• Utilizar intervalos de diapositivas guardados: Activa o desactiva las transiciones automáticas ensayadas [9].</a:t>
            </a:r>
          </a:p>
          <a:p>
            <a:pPr>
              <a:spcAft>
                <a:spcPts val="600"/>
              </a:spcAft>
            </a:pPr>
            <a:r>
              <a:rPr sz="1100">
                <a:solidFill>
                  <a:srgbClr val="718096"/>
                </a:solidFill>
                <a:latin typeface="Arial"/>
              </a:rPr>
              <a:t>• Mostrar sin animación o sin narración: Para aligerar el archivo de presentación.</a:t>
            </a:r>
          </a:p>
        </p:txBody>
      </p:sp>
      <p:sp>
        <p:nvSpPr>
          <p:cNvPr id="9" name="Rectangle 8"/>
          <p:cNvSpPr/>
          <p:nvPr/>
        </p:nvSpPr>
        <p:spPr>
          <a:xfrm>
            <a:off x="8046720" y="1645920"/>
            <a:ext cx="3383280" cy="76200"/>
          </a:xfrm>
          <a:prstGeom prst="rect">
            <a:avLst/>
          </a:prstGeom>
          <a:solidFill>
            <a:srgbClr val="1F2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Ensayar Intervalos: El Control Absoluto del Tiempo</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¿Qué es Ensayar Intervalos?</a:t>
            </a:r>
          </a:p>
          <a:p>
            <a:pPr>
              <a:spcAft>
                <a:spcPts val="600"/>
              </a:spcAft>
            </a:pPr>
            <a:r>
              <a:rPr sz="1200">
                <a:solidFill>
                  <a:srgbClr val="718096"/>
                </a:solidFill>
                <a:latin typeface="Arial"/>
              </a:rPr>
              <a:t>• Es una herramienta interactiva de PowerPoint que te permite practicar tu discurso mientras la aplicación mide los segundos exactos que dedicas a cada diapositiva [9].</a:t>
            </a:r>
          </a:p>
          <a:p>
            <a:pPr>
              <a:spcAft>
                <a:spcPts val="600"/>
              </a:spcAft>
            </a:pPr>
            <a:r>
              <a:rPr sz="1200">
                <a:solidFill>
                  <a:srgbClr val="718096"/>
                </a:solidFill>
                <a:latin typeface="Arial"/>
              </a:rPr>
              <a:t>• Ruta de acceso: Pestaña 'Presentación con diapositivas' -&gt; 'Ensayar intervalos' [9].</a:t>
            </a:r>
          </a:p>
          <a:p>
            <a:pPr>
              <a:spcAft>
                <a:spcPts val="600"/>
              </a:spcAft>
            </a:pPr>
            <a:r>
              <a:rPr sz="1200">
                <a:solidFill>
                  <a:srgbClr val="718096"/>
                </a:solidFill>
                <a:latin typeface="Arial"/>
              </a:rPr>
              <a:t>• Métricas registradas [9]:</a:t>
            </a:r>
          </a:p>
          <a:p>
            <a:pPr>
              <a:spcAft>
                <a:spcPts val="600"/>
              </a:spcAft>
            </a:pPr>
            <a:r>
              <a:rPr sz="1200">
                <a:solidFill>
                  <a:srgbClr val="718096"/>
                </a:solidFill>
                <a:latin typeface="Arial"/>
              </a:rPr>
              <a:t>  - Tiempo específico transcurrido en la diapositiva actual.</a:t>
            </a:r>
          </a:p>
          <a:p>
            <a:pPr>
              <a:spcAft>
                <a:spcPts val="600"/>
              </a:spcAft>
            </a:pPr>
            <a:r>
              <a:rPr sz="1200">
                <a:solidFill>
                  <a:srgbClr val="718096"/>
                </a:solidFill>
                <a:latin typeface="Arial"/>
              </a:rPr>
              <a:t>  - Tiempo acumulado total de toda la exposición.</a:t>
            </a:r>
          </a:p>
          <a:p>
            <a:pPr>
              <a:spcAft>
                <a:spcPts val="600"/>
              </a:spcAft>
            </a:pPr>
            <a:r>
              <a:rPr sz="1200">
                <a:solidFill>
                  <a:srgbClr val="718096"/>
                </a:solidFill>
                <a:latin typeface="Arial"/>
              </a:rPr>
              <a:t>• Guardado de tiempos: Al finalizar, PowerPoint te ofrece guardar los tiempos de intervalo. Si aceptas, las diapositivas avanzarán solas de forma automática según tus pausas reales ensayadas [9].</a:t>
            </a:r>
          </a:p>
        </p:txBody>
      </p:sp>
      <p:sp>
        <p:nvSpPr>
          <p:cNvPr id="5" name="Rounded Rectangle 4"/>
          <p:cNvSpPr/>
          <p:nvPr/>
        </p:nvSpPr>
        <p:spPr>
          <a:xfrm>
            <a:off x="6217920" y="1645920"/>
            <a:ext cx="5212080" cy="4114800"/>
          </a:xfrm>
          <a:prstGeom prst="roundRect">
            <a:avLst/>
          </a:prstGeom>
          <a:solidFill>
            <a:srgbClr val="EAEDF1"/>
          </a:solidFill>
          <a:ln w="19050">
            <a:solidFill>
              <a:srgbClr val="DC5F24"/>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Actividad Práctica 3: El Desafío de los 30 Segundos</a:t>
            </a:r>
          </a:p>
          <a:p>
            <a:pPr>
              <a:spcAft>
                <a:spcPts val="600"/>
              </a:spcAft>
            </a:pPr>
            <a:r>
              <a:rPr sz="1100">
                <a:solidFill>
                  <a:srgbClr val="718096"/>
                </a:solidFill>
                <a:latin typeface="Arial"/>
              </a:rPr>
              <a:t>DINÁMICA DE AUTOCONTROL (10 MINUTOS) [9]:</a:t>
            </a:r>
          </a:p>
          <a:p>
            <a:pPr>
              <a:spcAft>
                <a:spcPts val="600"/>
              </a:spcAft>
            </a:pPr>
            <a:r>
              <a:rPr sz="1100">
                <a:solidFill>
                  <a:srgbClr val="718096"/>
                </a:solidFill>
                <a:latin typeface="Arial"/>
              </a:rPr>
              <a:t>1. Abre tu proyecto de negocio 'Mi empresa ideal' con tus 5 diapositivas estructuradas [11].</a:t>
            </a:r>
          </a:p>
          <a:p>
            <a:pPr>
              <a:spcAft>
                <a:spcPts val="600"/>
              </a:spcAft>
            </a:pPr>
            <a:r>
              <a:rPr sz="1100">
                <a:solidFill>
                  <a:srgbClr val="718096"/>
                </a:solidFill>
                <a:latin typeface="Arial"/>
              </a:rPr>
              <a:t>2. Activa la herramienta 'Ensayar intervalos' [9, 12].</a:t>
            </a:r>
          </a:p>
          <a:p>
            <a:pPr>
              <a:spcAft>
                <a:spcPts val="600"/>
              </a:spcAft>
            </a:pPr>
            <a:r>
              <a:rPr sz="1100">
                <a:solidFill>
                  <a:srgbClr val="718096"/>
                </a:solidFill>
                <a:latin typeface="Arial"/>
              </a:rPr>
              <a:t>3. Intenta exponer cada diapositiva dedicando exactamente 30 segundos a cada una (Exposición total de 2 minutos y 30 segundos) [9-10].</a:t>
            </a:r>
          </a:p>
          <a:p>
            <a:pPr>
              <a:spcAft>
                <a:spcPts val="600"/>
              </a:spcAft>
            </a:pPr>
            <a:r>
              <a:rPr sz="1100">
                <a:solidFill>
                  <a:srgbClr val="718096"/>
                </a:solidFill>
                <a:latin typeface="Arial"/>
              </a:rPr>
              <a:t>4. Mira el temporizador de PowerPoint para ajustar tu ritmo en vivo: si vas muy rápido, expande tus ideas; si vas muy lento, acelera el discurso.</a:t>
            </a:r>
          </a:p>
          <a:p>
            <a:pPr>
              <a:spcAft>
                <a:spcPts val="600"/>
              </a:spcAft>
            </a:pPr>
            <a:r>
              <a:rPr sz="1100">
                <a:solidFill>
                  <a:srgbClr val="718096"/>
                </a:solidFill>
                <a:latin typeface="Arial"/>
              </a:rPr>
              <a:t>5. Revisa tus tiempos finales por diapositiva al terminar.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Grabar la Presentación: Creación de Video Asincrónico</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¿Qué es?</a:t>
            </a:r>
          </a:p>
          <a:p>
            <a:pPr>
              <a:spcAft>
                <a:spcPts val="600"/>
              </a:spcAft>
            </a:pPr>
            <a:r>
              <a:rPr sz="1100">
                <a:solidFill>
                  <a:srgbClr val="718096"/>
                </a:solidFill>
                <a:latin typeface="Arial"/>
              </a:rPr>
              <a:t>Ruta: Pestaña 'Presentación con diapositivas' -&gt; 'Grabar' [10].</a:t>
            </a:r>
          </a:p>
          <a:p>
            <a:pPr>
              <a:spcAft>
                <a:spcPts val="600"/>
              </a:spcAft>
            </a:pPr>
            <a:r>
              <a:rPr sz="1100">
                <a:solidFill>
                  <a:srgbClr val="718096"/>
                </a:solidFill>
                <a:latin typeface="Arial"/>
              </a:rPr>
              <a:t>Esta potente herramienta te permite registrar una presentación completa para que otros puedan verla de forma asincrónica, como un video explicativo profesional o una lección grabada [10].</a:t>
            </a:r>
          </a:p>
        </p:txBody>
      </p:sp>
      <p:sp>
        <p:nvSpPr>
          <p:cNvPr id="5" name="Rectangle 4"/>
          <p:cNvSpPr/>
          <p:nvPr/>
        </p:nvSpPr>
        <p:spPr>
          <a:xfrm>
            <a:off x="731520" y="1645920"/>
            <a:ext cx="3383280" cy="7620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¿Qué registra?</a:t>
            </a:r>
          </a:p>
          <a:p>
            <a:pPr>
              <a:spcAft>
                <a:spcPts val="600"/>
              </a:spcAft>
            </a:pPr>
            <a:r>
              <a:rPr sz="1100">
                <a:solidFill>
                  <a:srgbClr val="718096"/>
                </a:solidFill>
                <a:latin typeface="Arial"/>
              </a:rPr>
              <a:t>• Narración de voz: Graba tu explicación a través del micrófono [10].</a:t>
            </a:r>
          </a:p>
          <a:p>
            <a:pPr>
              <a:spcAft>
                <a:spcPts val="600"/>
              </a:spcAft>
            </a:pPr>
            <a:r>
              <a:rPr sz="1100">
                <a:solidFill>
                  <a:srgbClr val="718096"/>
                </a:solidFill>
                <a:latin typeface="Arial"/>
              </a:rPr>
              <a:t>• Cámara web: Añade un video en miniatura de tu rostro en la esquina de la diapositiva [10].</a:t>
            </a:r>
          </a:p>
          <a:p>
            <a:pPr>
              <a:spcAft>
                <a:spcPts val="600"/>
              </a:spcAft>
            </a:pPr>
            <a:r>
              <a:rPr sz="1100">
                <a:solidFill>
                  <a:srgbClr val="718096"/>
                </a:solidFill>
                <a:latin typeface="Arial"/>
              </a:rPr>
              <a:t>• Tiempos exactos: Guarda los intervalos de transición [10].</a:t>
            </a:r>
          </a:p>
          <a:p>
            <a:pPr>
              <a:spcAft>
                <a:spcPts val="600"/>
              </a:spcAft>
            </a:pPr>
            <a:r>
              <a:rPr sz="1100">
                <a:solidFill>
                  <a:srgbClr val="718096"/>
                </a:solidFill>
                <a:latin typeface="Arial"/>
              </a:rPr>
              <a:t>• Movimientos del puntero láser: Captura tus gestos y señales digitales sobre la diapositiva [10].</a:t>
            </a:r>
          </a:p>
        </p:txBody>
      </p:sp>
      <p:sp>
        <p:nvSpPr>
          <p:cNvPr id="7" name="Rectangle 6"/>
          <p:cNvSpPr/>
          <p:nvPr/>
        </p:nvSpPr>
        <p:spPr>
          <a:xfrm>
            <a:off x="4389120" y="1645920"/>
            <a:ext cx="3383280" cy="762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46720" y="1645920"/>
            <a:ext cx="33832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600" b="1">
                <a:solidFill>
                  <a:srgbClr val="1F242E"/>
                </a:solidFill>
                <a:latin typeface="Georgia"/>
              </a:rPr>
              <a:t>Casos de Uso</a:t>
            </a:r>
          </a:p>
          <a:p>
            <a:pPr>
              <a:spcAft>
                <a:spcPts val="600"/>
              </a:spcAft>
            </a:pPr>
            <a:r>
              <a:rPr sz="1100">
                <a:solidFill>
                  <a:srgbClr val="718096"/>
                </a:solidFill>
                <a:latin typeface="Arial"/>
              </a:rPr>
              <a:t>• Educación a distancia: Creación de clases explicativas grabadas paso a paso [10].</a:t>
            </a:r>
          </a:p>
          <a:p>
            <a:pPr>
              <a:spcAft>
                <a:spcPts val="600"/>
              </a:spcAft>
            </a:pPr>
            <a:r>
              <a:rPr sz="1100">
                <a:solidFill>
                  <a:srgbClr val="718096"/>
                </a:solidFill>
                <a:latin typeface="Arial"/>
              </a:rPr>
              <a:t>• Propuestas comerciales: Enviar un pitch completo pre-grabado a clientes que no pueden agendar una reunión en vivo [10].</a:t>
            </a:r>
          </a:p>
          <a:p>
            <a:pPr>
              <a:spcAft>
                <a:spcPts val="600"/>
              </a:spcAft>
            </a:pPr>
            <a:r>
              <a:rPr sz="1100">
                <a:solidFill>
                  <a:srgbClr val="718096"/>
                </a:solidFill>
                <a:latin typeface="Arial"/>
              </a:rPr>
              <a:t>• Reportes de avance: Compartir resultados semanales con tu equipo para visualización asincrónica.</a:t>
            </a:r>
          </a:p>
        </p:txBody>
      </p:sp>
      <p:sp>
        <p:nvSpPr>
          <p:cNvPr id="9" name="Rectangle 8"/>
          <p:cNvSpPr/>
          <p:nvPr/>
        </p:nvSpPr>
        <p:spPr>
          <a:xfrm>
            <a:off x="8046720" y="1645920"/>
            <a:ext cx="3383280" cy="76200"/>
          </a:xfrm>
          <a:prstGeom prst="rect">
            <a:avLst/>
          </a:prstGeom>
          <a:solidFill>
            <a:srgbClr val="1F2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Decálogo del Expositor: Buenas Prácticas vs. Errores</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114800"/>
          </a:xfrm>
          <a:prstGeom prst="roundRect">
            <a:avLst/>
          </a:prstGeom>
          <a:solidFill>
            <a:srgbClr val="FFFFFF"/>
          </a:solidFill>
          <a:ln w="19050">
            <a:solidFill>
              <a:srgbClr val="4E9F3D"/>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Buenas Prácticas al Exponer</a:t>
            </a:r>
          </a:p>
          <a:p>
            <a:pPr>
              <a:spcAft>
                <a:spcPts val="600"/>
              </a:spcAft>
            </a:pPr>
            <a:r>
              <a:rPr sz="1200">
                <a:solidFill>
                  <a:srgbClr val="718096"/>
                </a:solidFill>
                <a:latin typeface="Arial"/>
              </a:rPr>
              <a:t>• Dominio visual: Mira directamente al público y haz contacto visual constante (reparte la mirada por la sala) [10].</a:t>
            </a:r>
          </a:p>
          <a:p>
            <a:pPr>
              <a:spcAft>
                <a:spcPts val="600"/>
              </a:spcAft>
            </a:pPr>
            <a:r>
              <a:rPr sz="1200">
                <a:solidFill>
                  <a:srgbClr val="718096"/>
                </a:solidFill>
                <a:latin typeface="Arial"/>
              </a:rPr>
              <a:t>• Dicción y claridad: Habla pausado, claro y modula la voz de forma dinámica [10].</a:t>
            </a:r>
          </a:p>
          <a:p>
            <a:pPr>
              <a:spcAft>
                <a:spcPts val="600"/>
              </a:spcAft>
            </a:pPr>
            <a:r>
              <a:rPr sz="1200">
                <a:solidFill>
                  <a:srgbClr val="718096"/>
                </a:solidFill>
                <a:latin typeface="Arial"/>
              </a:rPr>
              <a:t>• Postura profesional: Mantén una postura abierta y no des la espalda al público constantemente para leer la pantalla [10].</a:t>
            </a:r>
          </a:p>
          <a:p>
            <a:pPr>
              <a:spcAft>
                <a:spcPts val="600"/>
              </a:spcAft>
            </a:pPr>
            <a:r>
              <a:rPr sz="1200">
                <a:solidFill>
                  <a:srgbClr val="718096"/>
                </a:solidFill>
                <a:latin typeface="Arial"/>
              </a:rPr>
              <a:t>• Apoyo, no muleta: Utiliza las diapositivas puramente como apoyo visual; el valor lo das tú [10].</a:t>
            </a:r>
          </a:p>
          <a:p>
            <a:pPr>
              <a:spcAft>
                <a:spcPts val="600"/>
              </a:spcAft>
            </a:pPr>
            <a:r>
              <a:rPr sz="1200">
                <a:solidFill>
                  <a:srgbClr val="718096"/>
                </a:solidFill>
                <a:latin typeface="Arial"/>
              </a:rPr>
              <a:t>• Preparación previa: Ensaya con notas estratégicas y mide tus intervalos de tiempo de antemano [10].</a:t>
            </a:r>
          </a:p>
        </p:txBody>
      </p:sp>
      <p:sp>
        <p:nvSpPr>
          <p:cNvPr id="5" name="Rounded Rectangle 4"/>
          <p:cNvSpPr/>
          <p:nvPr/>
        </p:nvSpPr>
        <p:spPr>
          <a:xfrm>
            <a:off x="6217920" y="1645920"/>
            <a:ext cx="5212080" cy="4114800"/>
          </a:xfrm>
          <a:prstGeom prst="roundRect">
            <a:avLst/>
          </a:prstGeom>
          <a:solidFill>
            <a:srgbClr val="FFFFFF"/>
          </a:solidFill>
          <a:ln w="19050">
            <a:solidFill>
              <a:srgbClr val="DF4747"/>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Errores Comunes que debemos Evitar</a:t>
            </a:r>
          </a:p>
          <a:p>
            <a:pPr>
              <a:spcAft>
                <a:spcPts val="600"/>
              </a:spcAft>
            </a:pPr>
            <a:r>
              <a:rPr sz="1200">
                <a:solidFill>
                  <a:srgbClr val="718096"/>
                </a:solidFill>
                <a:latin typeface="Arial"/>
              </a:rPr>
              <a:t>• El 'síndrome del lector': Leer textualmente todo el texto de las diapositivas saturadas [11].</a:t>
            </a:r>
          </a:p>
          <a:p>
            <a:pPr>
              <a:spcAft>
                <a:spcPts val="600"/>
              </a:spcAft>
            </a:pPr>
            <a:r>
              <a:rPr sz="1200">
                <a:solidFill>
                  <a:srgbClr val="718096"/>
                </a:solidFill>
                <a:latin typeface="Arial"/>
              </a:rPr>
              <a:t>• Velocidad excesiva: Hablar demasiado rápido debido a los nervios o falta de control [11].</a:t>
            </a:r>
          </a:p>
          <a:p>
            <a:pPr>
              <a:spcAft>
                <a:spcPts val="600"/>
              </a:spcAft>
            </a:pPr>
            <a:r>
              <a:rPr sz="1200">
                <a:solidFill>
                  <a:srgbClr val="718096"/>
                </a:solidFill>
                <a:latin typeface="Arial"/>
              </a:rPr>
              <a:t>• Abuso de efectos: Cargar la presentación con demasiadas animaciones tridimensionales o efectos distractores [11].</a:t>
            </a:r>
          </a:p>
          <a:p>
            <a:pPr>
              <a:spcAft>
                <a:spcPts val="600"/>
              </a:spcAft>
            </a:pPr>
            <a:r>
              <a:rPr sz="1200">
                <a:solidFill>
                  <a:srgbClr val="718096"/>
                </a:solidFill>
                <a:latin typeface="Arial"/>
              </a:rPr>
              <a:t>• Desconocimiento técnico: No comprobar previamente si los videos, audios o enlaces web funcionan en la máquina final [11].</a:t>
            </a:r>
          </a:p>
          <a:p>
            <a:pPr>
              <a:spcAft>
                <a:spcPts val="600"/>
              </a:spcAft>
            </a:pPr>
            <a:r>
              <a:rPr sz="1200">
                <a:solidFill>
                  <a:srgbClr val="718096"/>
                </a:solidFill>
                <a:latin typeface="Arial"/>
              </a:rPr>
              <a:t>• Improvisación temporal: No ensayar los tiempos y terminar corriendo o dejando la exposición inconclusa [11].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Taller en Clase: El Proyecto de 'Mi Empresa Ideal'</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192024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400" b="1">
                <a:solidFill>
                  <a:srgbClr val="1F242E"/>
                </a:solidFill>
                <a:latin typeface="Georgia"/>
              </a:rPr>
              <a:t>1. Portada</a:t>
            </a:r>
          </a:p>
          <a:p>
            <a:pPr>
              <a:spcAft>
                <a:spcPts val="600"/>
              </a:spcAft>
            </a:pPr>
            <a:r>
              <a:rPr sz="1000">
                <a:solidFill>
                  <a:srgbClr val="718096"/>
                </a:solidFill>
                <a:latin typeface="Arial"/>
              </a:rPr>
              <a:t>(Slide 1)</a:t>
            </a:r>
          </a:p>
          <a:p>
            <a:pPr>
              <a:spcAft>
                <a:spcPts val="600"/>
              </a:spcAft>
            </a:pPr>
            <a:r>
              <a:rPr sz="1000">
                <a:solidFill>
                  <a:srgbClr val="718096"/>
                </a:solidFill>
                <a:latin typeface="Arial"/>
              </a:rPr>
              <a:t>Diseño uniforme, logo, título claro de tu empresa ideal [12].</a:t>
            </a:r>
          </a:p>
        </p:txBody>
      </p:sp>
      <p:sp>
        <p:nvSpPr>
          <p:cNvPr id="5" name="Rounded Rectangle 4"/>
          <p:cNvSpPr/>
          <p:nvPr/>
        </p:nvSpPr>
        <p:spPr>
          <a:xfrm>
            <a:off x="2926080" y="1645920"/>
            <a:ext cx="192024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400" b="1">
                <a:solidFill>
                  <a:srgbClr val="1F242E"/>
                </a:solidFill>
                <a:latin typeface="Georgia"/>
              </a:rPr>
              <a:t>2. El Propósito</a:t>
            </a:r>
          </a:p>
          <a:p>
            <a:pPr>
              <a:spcAft>
                <a:spcPts val="600"/>
              </a:spcAft>
            </a:pPr>
            <a:r>
              <a:rPr sz="1000">
                <a:solidFill>
                  <a:srgbClr val="718096"/>
                </a:solidFill>
                <a:latin typeface="Arial"/>
              </a:rPr>
              <a:t>(Slide 2)</a:t>
            </a:r>
          </a:p>
          <a:p>
            <a:pPr>
              <a:spcAft>
                <a:spcPts val="600"/>
              </a:spcAft>
            </a:pPr>
            <a:r>
              <a:rPr sz="1000">
                <a:solidFill>
                  <a:srgbClr val="718096"/>
                </a:solidFill>
                <a:latin typeface="Arial"/>
              </a:rPr>
              <a:t>¿Qué problema resolvemos? Definir la empresa de forma sintetizada [12].</a:t>
            </a:r>
          </a:p>
        </p:txBody>
      </p:sp>
      <p:sp>
        <p:nvSpPr>
          <p:cNvPr id="6" name="Rounded Rectangle 5"/>
          <p:cNvSpPr/>
          <p:nvPr/>
        </p:nvSpPr>
        <p:spPr>
          <a:xfrm>
            <a:off x="5120640" y="1645920"/>
            <a:ext cx="192024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400" b="1">
                <a:solidFill>
                  <a:srgbClr val="1F242E"/>
                </a:solidFill>
                <a:latin typeface="Georgia"/>
              </a:rPr>
              <a:t>3. Propuesta</a:t>
            </a:r>
          </a:p>
          <a:p>
            <a:pPr>
              <a:spcAft>
                <a:spcPts val="600"/>
              </a:spcAft>
            </a:pPr>
            <a:r>
              <a:rPr sz="1000">
                <a:solidFill>
                  <a:srgbClr val="718096"/>
                </a:solidFill>
                <a:latin typeface="Arial"/>
              </a:rPr>
              <a:t>(Productos/Servicios)</a:t>
            </a:r>
          </a:p>
          <a:p>
            <a:pPr>
              <a:spcAft>
                <a:spcPts val="600"/>
              </a:spcAft>
            </a:pPr>
            <a:r>
              <a:rPr sz="1000">
                <a:solidFill>
                  <a:srgbClr val="718096"/>
                </a:solidFill>
                <a:latin typeface="Arial"/>
              </a:rPr>
              <a:t>Detalle de tu oferta principal de valor [12].</a:t>
            </a:r>
          </a:p>
        </p:txBody>
      </p:sp>
      <p:sp>
        <p:nvSpPr>
          <p:cNvPr id="7" name="Rounded Rectangle 6"/>
          <p:cNvSpPr/>
          <p:nvPr/>
        </p:nvSpPr>
        <p:spPr>
          <a:xfrm>
            <a:off x="7315200" y="1645920"/>
            <a:ext cx="192024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400" b="1">
                <a:solidFill>
                  <a:srgbClr val="1F242E"/>
                </a:solidFill>
                <a:latin typeface="Georgia"/>
              </a:rPr>
              <a:t>4. Evidencia</a:t>
            </a:r>
          </a:p>
          <a:p>
            <a:pPr>
              <a:spcAft>
                <a:spcPts val="600"/>
              </a:spcAft>
            </a:pPr>
            <a:r>
              <a:rPr sz="1000">
                <a:solidFill>
                  <a:srgbClr val="718096"/>
                </a:solidFill>
                <a:latin typeface="Arial"/>
              </a:rPr>
              <a:t>(Slide 4)</a:t>
            </a:r>
          </a:p>
          <a:p>
            <a:pPr>
              <a:spcAft>
                <a:spcPts val="600"/>
              </a:spcAft>
            </a:pPr>
            <a:r>
              <a:rPr sz="1000">
                <a:solidFill>
                  <a:srgbClr val="718096"/>
                </a:solidFill>
                <a:latin typeface="Arial"/>
              </a:rPr>
              <a:t>Gráficos de ventas, estimaciones o datos de mercado legibles [12].</a:t>
            </a:r>
          </a:p>
        </p:txBody>
      </p:sp>
      <p:sp>
        <p:nvSpPr>
          <p:cNvPr id="8" name="Rounded Rectangle 7"/>
          <p:cNvSpPr/>
          <p:nvPr/>
        </p:nvSpPr>
        <p:spPr>
          <a:xfrm>
            <a:off x="9509760" y="1645920"/>
            <a:ext cx="1920240" cy="29260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400" b="1">
                <a:solidFill>
                  <a:srgbClr val="1F242E"/>
                </a:solidFill>
                <a:latin typeface="Georgia"/>
              </a:rPr>
              <a:t>5. Conclusión</a:t>
            </a:r>
          </a:p>
          <a:p>
            <a:pPr>
              <a:spcAft>
                <a:spcPts val="600"/>
              </a:spcAft>
            </a:pPr>
            <a:r>
              <a:rPr sz="1000">
                <a:solidFill>
                  <a:srgbClr val="718096"/>
                </a:solidFill>
                <a:latin typeface="Arial"/>
              </a:rPr>
              <a:t>(Slide 5)</a:t>
            </a:r>
          </a:p>
          <a:p>
            <a:pPr>
              <a:spcAft>
                <a:spcPts val="600"/>
              </a:spcAft>
            </a:pPr>
            <a:r>
              <a:rPr sz="1000">
                <a:solidFill>
                  <a:srgbClr val="718096"/>
                </a:solidFill>
                <a:latin typeface="Arial"/>
              </a:rPr>
              <a:t>Cierre con llamada a la acción y un recordatorio para el público [12].</a:t>
            </a:r>
          </a:p>
        </p:txBody>
      </p:sp>
      <p:sp>
        <p:nvSpPr>
          <p:cNvPr id="9" name="Rectangle 8"/>
          <p:cNvSpPr/>
          <p:nvPr/>
        </p:nvSpPr>
        <p:spPr>
          <a:xfrm>
            <a:off x="731520" y="4846320"/>
            <a:ext cx="10698480" cy="1280160"/>
          </a:xfrm>
          <a:prstGeom prst="rect">
            <a:avLst/>
          </a:prstGeom>
          <a:solidFill>
            <a:srgbClr val="2B4C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rial"/>
              </a:rPr>
              <a:t>INSTRUCCIONES DEL PROYECTO (15 MINUTOS) [11, 12]:</a:t>
            </a:r>
            <a:r>
              <a:t/>
            </a:r>
            <a:br/>
            <a:r>
              <a:rPr sz="1200" b="1">
                <a:solidFill>
                  <a:srgbClr val="FFFFFF"/>
                </a:solidFill>
                <a:latin typeface="Arial"/>
              </a:rPr>
              <a:t>Prepara estas 5 diapositivas de tu proyecto y asegúrate de aplicar: 1. Diseño uniforme (CRAP) [12], 2. Texto resumido [12], 3. Notas del presentador completas [12]. Configura los intervalos y ensaya tu discurso buscando realizar una exposición limpia de aproximadamente 3 minutos [11,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698480" cy="731520"/>
          </a:xfrm>
          <a:prstGeom prst="rect">
            <a:avLst/>
          </a:prstGeom>
          <a:noFill/>
        </p:spPr>
        <p:txBody>
          <a:bodyPr wrap="square" lIns="0" tIns="0" rIns="0" bIns="0">
            <a:spAutoFit/>
          </a:bodyPr>
          <a:lstStyle/>
          <a:p>
            <a:pPr algn="l"/>
            <a:r>
              <a:rPr sz="2800" b="1">
                <a:solidFill>
                  <a:srgbClr val="1F242E"/>
                </a:solidFill>
                <a:latin typeface="Georgia"/>
              </a:rPr>
              <a:t>Evaluación y Tarea Final para la Clase 8</a:t>
            </a:r>
          </a:p>
        </p:txBody>
      </p:sp>
      <p:sp>
        <p:nvSpPr>
          <p:cNvPr id="3" name="Rectangle 2"/>
          <p:cNvSpPr/>
          <p:nvPr/>
        </p:nvSpPr>
        <p:spPr>
          <a:xfrm>
            <a:off x="731520" y="1188720"/>
            <a:ext cx="1828800" cy="38100"/>
          </a:xfrm>
          <a:prstGeom prst="rect">
            <a:avLst/>
          </a:prstGeom>
          <a:solidFill>
            <a:srgbClr val="DC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5212080" cy="4297680"/>
          </a:xfrm>
          <a:prstGeom prst="roundRect">
            <a:avLst/>
          </a:prstGeom>
          <a:solidFill>
            <a:srgbClr val="FFFFFF"/>
          </a:solidFill>
          <a:ln w="19050">
            <a:solidFill>
              <a:srgbClr val="DC5F24"/>
            </a:solid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Tarea: Proyecto de Negocio Completo</a:t>
            </a:r>
          </a:p>
          <a:p>
            <a:pPr>
              <a:spcAft>
                <a:spcPts val="600"/>
              </a:spcAft>
            </a:pPr>
            <a:r>
              <a:rPr sz="1050">
                <a:solidFill>
                  <a:srgbClr val="718096"/>
                </a:solidFill>
                <a:latin typeface="Arial"/>
              </a:rPr>
              <a:t>• Diapositivas completas: Preparar las 10 diapositivas que conforman el proyecto total 'Mi empresa o negocio ideal' [12].</a:t>
            </a:r>
          </a:p>
          <a:p>
            <a:pPr>
              <a:spcAft>
                <a:spcPts val="600"/>
              </a:spcAft>
            </a:pPr>
            <a:r>
              <a:rPr sz="1050">
                <a:solidFill>
                  <a:srgbClr val="718096"/>
                </a:solidFill>
                <a:latin typeface="Arial"/>
              </a:rPr>
              <a:t>• Diseño uniforme: Aplicar rigurosamente los principios de diseño profesional CRAP de forma uniforme en todo el deck [12].</a:t>
            </a:r>
          </a:p>
          <a:p>
            <a:pPr>
              <a:spcAft>
                <a:spcPts val="600"/>
              </a:spcAft>
            </a:pPr>
            <a:r>
              <a:rPr sz="1050">
                <a:solidFill>
                  <a:srgbClr val="718096"/>
                </a:solidFill>
                <a:latin typeface="Arial"/>
              </a:rPr>
              <a:t>• Información resumida al mínimo conceptual: Cero saturación de texto, uso inteligente de palabras clave, gráficos y soporte visual de alta calidad [12].</a:t>
            </a:r>
          </a:p>
          <a:p>
            <a:pPr>
              <a:spcAft>
                <a:spcPts val="600"/>
              </a:spcAft>
            </a:pPr>
            <a:r>
              <a:rPr sz="1050">
                <a:solidFill>
                  <a:srgbClr val="718096"/>
                </a:solidFill>
                <a:latin typeface="Arial"/>
              </a:rPr>
              <a:t>• Notas del presentador: Agregar una guía detallada en las notas de cada una de las 10 diapositivas (explicación, dato duro y pregunta interactiva) [12].</a:t>
            </a:r>
          </a:p>
          <a:p>
            <a:pPr>
              <a:spcAft>
                <a:spcPts val="600"/>
              </a:spcAft>
            </a:pPr>
            <a:r>
              <a:rPr sz="1050">
                <a:solidFill>
                  <a:srgbClr val="718096"/>
                </a:solidFill>
                <a:latin typeface="Arial"/>
              </a:rPr>
              <a:t>• Tiempos adecuados: Configurar y ensayar intervalos para lograr una exposición formal fluida de exactamente 5 minutos [12].</a:t>
            </a:r>
          </a:p>
        </p:txBody>
      </p:sp>
      <p:sp>
        <p:nvSpPr>
          <p:cNvPr id="5" name="Rounded Rectangle 4"/>
          <p:cNvSpPr/>
          <p:nvPr/>
        </p:nvSpPr>
        <p:spPr>
          <a:xfrm>
            <a:off x="6217920" y="1645920"/>
            <a:ext cx="5212080" cy="4297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0" tIns="164592" rIns="182880" bIns="164592" rtlCol="0" anchor="ctr"/>
          <a:lstStyle/>
          <a:p>
            <a:pPr algn="ctr">
              <a:spcAft>
                <a:spcPts val="1000"/>
              </a:spcAft>
            </a:pPr>
            <a:r>
              <a:rPr sz="1800" b="1">
                <a:solidFill>
                  <a:srgbClr val="1F242E"/>
                </a:solidFill>
                <a:latin typeface="Georgia"/>
              </a:rPr>
              <a:t>Lo que debes Dominar hoy</a:t>
            </a:r>
          </a:p>
          <a:p>
            <a:pPr>
              <a:spcAft>
                <a:spcPts val="600"/>
              </a:spcAft>
            </a:pPr>
            <a:r>
              <a:rPr sz="1050">
                <a:solidFill>
                  <a:srgbClr val="718096"/>
                </a:solidFill>
                <a:latin typeface="Arial"/>
              </a:rPr>
              <a:t>• Diseño profesional bajo las reglas de contraste, repetición, alineación y proximidad (CRAP) [12].</a:t>
            </a:r>
          </a:p>
          <a:p>
            <a:pPr>
              <a:spcAft>
                <a:spcPts val="600"/>
              </a:spcAft>
            </a:pPr>
            <a:r>
              <a:rPr sz="1050">
                <a:solidFill>
                  <a:srgbClr val="718096"/>
                </a:solidFill>
                <a:latin typeface="Arial"/>
              </a:rPr>
              <a:t>• Uso estratégico de Notas del presentador como guion privado [12].</a:t>
            </a:r>
          </a:p>
          <a:p>
            <a:pPr>
              <a:spcAft>
                <a:spcPts val="600"/>
              </a:spcAft>
            </a:pPr>
            <a:r>
              <a:rPr sz="1050">
                <a:solidFill>
                  <a:srgbClr val="718096"/>
                </a:solidFill>
                <a:latin typeface="Arial"/>
              </a:rPr>
              <a:t>• Control del entorno de Doble monitor y la Vista del Presentador [12].</a:t>
            </a:r>
          </a:p>
          <a:p>
            <a:pPr>
              <a:spcAft>
                <a:spcPts val="600"/>
              </a:spcAft>
            </a:pPr>
            <a:r>
              <a:rPr sz="1050">
                <a:solidFill>
                  <a:srgbClr val="718096"/>
                </a:solidFill>
                <a:latin typeface="Arial"/>
              </a:rPr>
              <a:t>• Dominio de atajos (F5, Shift+F5, B, W) y herramientas de anotación en vivo [12, 13].</a:t>
            </a:r>
          </a:p>
          <a:p>
            <a:pPr>
              <a:spcAft>
                <a:spcPts val="600"/>
              </a:spcAft>
            </a:pPr>
            <a:r>
              <a:rPr sz="1050">
                <a:solidFill>
                  <a:srgbClr val="718096"/>
                </a:solidFill>
                <a:latin typeface="Arial"/>
              </a:rPr>
              <a:t>• Ensayo de intervalos para auto-evaluar tu tiempo [13].</a:t>
            </a:r>
          </a:p>
          <a:p>
            <a:pPr>
              <a:spcAft>
                <a:spcPts val="600"/>
              </a:spcAft>
            </a:pPr>
            <a:r>
              <a:rPr sz="1050">
                <a:solidFill>
                  <a:srgbClr val="718096"/>
                </a:solidFill>
                <a:latin typeface="Arial"/>
              </a:rPr>
              <a:t>• Próxima Clase (Clase 8):</a:t>
            </a:r>
          </a:p>
          <a:p>
            <a:pPr>
              <a:spcAft>
                <a:spcPts val="600"/>
              </a:spcAft>
            </a:pPr>
            <a:r>
              <a:rPr sz="1050">
                <a:solidFill>
                  <a:srgbClr val="718096"/>
                </a:solidFill>
                <a:latin typeface="Arial"/>
              </a:rPr>
              <a:t>Aprenderemos a cerrar el ciclo de vida de la presentación: exportación, impresión, formatos de archivos (.pdf, .mp4, .show), empaquetado seguro, protección de derechos y compatibilidad entre plataformas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5966</Words>
  <Application>Microsoft Office PowerPoint</Application>
  <PresentationFormat>Panorámica</PresentationFormat>
  <Paragraphs>410</Paragraphs>
  <Slides>23</Slides>
  <Notes>23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Elmer Estuardo Cabrera Elvira</cp:lastModifiedBy>
  <cp:revision>2</cp:revision>
  <dcterms:created xsi:type="dcterms:W3CDTF">2013-01-27T09:14:16Z</dcterms:created>
  <dcterms:modified xsi:type="dcterms:W3CDTF">2026-08-31T13:54:51Z</dcterms:modified>
  <cp:category/>
</cp:coreProperties>
</file>